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4" r:id="rId34"/>
    <p:sldId id="295" r:id="rId35"/>
    <p:sldId id="296" r:id="rId36"/>
    <p:sldId id="288" r:id="rId37"/>
    <p:sldId id="289" r:id="rId38"/>
    <p:sldId id="290" r:id="rId39"/>
    <p:sldId id="291" r:id="rId40"/>
    <p:sldId id="292" r:id="rId41"/>
    <p:sldId id="293" r:id="rId42"/>
    <p:sldId id="297" r:id="rId43"/>
  </p:sldIdLst>
  <p:sldSz cx="12192000" cy="6858000"/>
  <p:notesSz cx="6884988" cy="100187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>
          <p15:clr>
            <a:srgbClr val="A4A3A4"/>
          </p15:clr>
        </p15:guide>
        <p15:guide id="2" pos="2169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h9PPY/I8JtTM3n8e8kAo0a0bkC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9C86AC-4B3C-402A-AFFA-429C24508736}">
  <a:tblStyle styleId="{D99C86AC-4B3C-402A-AFFA-429C245087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56"/>
        <p:guide pos="21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2983494" cy="5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175" rIns="92375" bIns="461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9900" y="1"/>
            <a:ext cx="2983494" cy="5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175" rIns="92375" bIns="461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175" rIns="92375" bIns="461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516040"/>
            <a:ext cx="2983494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175" rIns="92375" bIns="461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494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413d355b1_0_0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5413d355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2000" cy="338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413d355b1_1_0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5413d355b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2000" cy="338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ca6e16c6f6df25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6ca6e16c6f6df25f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6ca6e16c6f6df25f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ca6e16c6f6df25f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6ca6e16c6f6df25f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6ca6e16c6f6df25f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ca6e16c6f6df25f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6ca6e16c6f6df25f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6ca6e16c6f6df25f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ca6e16c6f6df25f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6ca6e16c6f6df25f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6ca6e16c6f6df25f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413d355b1_1_6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5413d355b1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2000" cy="338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4975faf7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2000" cy="338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4975faf7e_0_7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54975faf7e_0_7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4975faf7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4975faf7e_0_14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54975faf7e_0_14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4975faf7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4975faf7e_0_21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54975faf7e_0_21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565383f02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5565383f02_0_225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5565383f02_0_225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565383f02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5565383f02_0_522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5565383f02_0_522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565383f02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2000" cy="338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565383f02_0_652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35565383f02_0_652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5565383f02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2000" cy="338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5565383f02_0_404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35565383f02_0_404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5413d355b1_1_12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35413d355b1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7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這個部分就是會幫大家簡單介紹一下目前我們實作成果，針對problem E的公開test case我們有實作一些簡單的資料結構和演算法，同時也會為大家簡單的解說實作細節，以及demo我們目前的實作成果，此外我們有根據主辦單位給的測資再生出另外兩組tests，所以目前我們有3組test case</a:t>
            </a:r>
            <a:endParaRPr/>
          </a:p>
        </p:txBody>
      </p:sp>
      <p:sp>
        <p:nvSpPr>
          <p:cNvPr id="532" name="Google Shape;532;p7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494" cy="50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0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2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3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4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5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6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7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9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0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413d355b1_0_0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5413d355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92491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5742d948fd_0_0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g35742d948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5742d948f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5742d948fd_0_6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35742d948fd_0_6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5742d948f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5742d948fd_0_22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35742d948fd_0_22:notes"/>
          <p:cNvSpPr txBox="1">
            <a:spLocks noGrp="1"/>
          </p:cNvSpPr>
          <p:nvPr>
            <p:ph type="sldNum" idx="12"/>
          </p:nvPr>
        </p:nvSpPr>
        <p:spPr>
          <a:xfrm>
            <a:off x="3899900" y="9516040"/>
            <a:ext cx="2983500" cy="502800"/>
          </a:xfrm>
          <a:prstGeom prst="rect">
            <a:avLst/>
          </a:prstGeom>
        </p:spPr>
        <p:txBody>
          <a:bodyPr spcFirstLastPara="1" wrap="square" lIns="92375" tIns="46175" rIns="92375" bIns="46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413d355b1_1_18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8000" cy="3945000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35413d355b1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1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2:notes"/>
          <p:cNvSpPr txBox="1">
            <a:spLocks noGrp="1"/>
          </p:cNvSpPr>
          <p:nvPr>
            <p:ph type="body" idx="1"/>
          </p:nvPr>
        </p:nvSpPr>
        <p:spPr>
          <a:xfrm>
            <a:off x="688500" y="4821505"/>
            <a:ext cx="5507990" cy="3944868"/>
          </a:xfrm>
          <a:prstGeom prst="rect">
            <a:avLst/>
          </a:prstGeom>
        </p:spPr>
        <p:txBody>
          <a:bodyPr spcFirstLastPara="1" wrap="square" lIns="92375" tIns="46175" rIns="92375" bIns="461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2538"/>
            <a:ext cx="6011862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229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4" descr="E版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05802" y="2991902"/>
            <a:ext cx="3886200" cy="386609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4"/>
          <p:cNvSpPr/>
          <p:nvPr/>
        </p:nvSpPr>
        <p:spPr>
          <a:xfrm>
            <a:off x="-1" y="6618288"/>
            <a:ext cx="12192000" cy="239712"/>
          </a:xfrm>
          <a:prstGeom prst="rect">
            <a:avLst/>
          </a:prstGeom>
          <a:solidFill>
            <a:srgbClr val="046A3D"/>
          </a:solidFill>
          <a:ln w="9525" cap="flat" cmpd="sng">
            <a:solidFill>
              <a:srgbClr val="046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4"/>
          <p:cNvSpPr txBox="1">
            <a:spLocks noGrp="1"/>
          </p:cNvSpPr>
          <p:nvPr>
            <p:ph type="ctrTitle"/>
          </p:nvPr>
        </p:nvSpPr>
        <p:spPr>
          <a:xfrm>
            <a:off x="836698" y="2584703"/>
            <a:ext cx="9076423" cy="121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ubTitle" idx="1"/>
          </p:nvPr>
        </p:nvSpPr>
        <p:spPr>
          <a:xfrm>
            <a:off x="836698" y="3830111"/>
            <a:ext cx="9076423" cy="75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sldNum" idx="12"/>
          </p:nvPr>
        </p:nvSpPr>
        <p:spPr>
          <a:xfrm>
            <a:off x="11614808" y="6619875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body" idx="2"/>
          </p:nvPr>
        </p:nvSpPr>
        <p:spPr>
          <a:xfrm>
            <a:off x="836698" y="5349523"/>
            <a:ext cx="2788603" cy="43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23" name="Google Shape;2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82365" y="254786"/>
            <a:ext cx="682734" cy="3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0023" y="25089"/>
            <a:ext cx="2158039" cy="5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2_自訂版面配置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物件">
  <p:cSld name="1_標題及物件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609601" y="1439864"/>
            <a:ext cx="7981506" cy="475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>
            <a:spLocks noGrp="1"/>
          </p:cNvSpPr>
          <p:nvPr>
            <p:ph type="pic" idx="2"/>
          </p:nvPr>
        </p:nvSpPr>
        <p:spPr>
          <a:xfrm>
            <a:off x="8825023" y="1439864"/>
            <a:ext cx="2822033" cy="47577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及物件">
  <p:cSld name="2_標題及物件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1"/>
          </p:nvPr>
        </p:nvSpPr>
        <p:spPr>
          <a:xfrm>
            <a:off x="609600" y="1439865"/>
            <a:ext cx="11037455" cy="28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>
            <a:spLocks noGrp="1"/>
          </p:cNvSpPr>
          <p:nvPr>
            <p:ph type="pic" idx="2"/>
          </p:nvPr>
        </p:nvSpPr>
        <p:spPr>
          <a:xfrm>
            <a:off x="609601" y="4444409"/>
            <a:ext cx="11037456" cy="175319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>
  <p:cSld name="區段標題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ctrTitle"/>
          </p:nvPr>
        </p:nvSpPr>
        <p:spPr>
          <a:xfrm>
            <a:off x="2174355" y="2564904"/>
            <a:ext cx="7772400" cy="10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subTitle" idx="1"/>
          </p:nvPr>
        </p:nvSpPr>
        <p:spPr>
          <a:xfrm>
            <a:off x="2860155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區段標題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4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body" idx="1"/>
          </p:nvPr>
        </p:nvSpPr>
        <p:spPr>
          <a:xfrm rot="5400000">
            <a:off x="3749460" y="-1699995"/>
            <a:ext cx="4757737" cy="1103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 rot="5400000">
            <a:off x="7534450" y="1863404"/>
            <a:ext cx="5665973" cy="2789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46A3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 rot="5400000">
            <a:off x="1852258" y="-825821"/>
            <a:ext cx="5665973" cy="816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0" y="6618288"/>
            <a:ext cx="12192000" cy="239712"/>
          </a:xfrm>
          <a:prstGeom prst="rect">
            <a:avLst/>
          </a:prstGeom>
          <a:solidFill>
            <a:srgbClr val="046A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1" y="1439864"/>
            <a:ext cx="11037455" cy="475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2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282365" y="254786"/>
            <a:ext cx="682734" cy="3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980023" y="25089"/>
            <a:ext cx="2158039" cy="5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>
            <a:spLocks noGrp="1"/>
          </p:cNvSpPr>
          <p:nvPr>
            <p:ph type="title"/>
          </p:nvPr>
        </p:nvSpPr>
        <p:spPr>
          <a:xfrm>
            <a:off x="609601" y="163353"/>
            <a:ext cx="10515600" cy="99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46A3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510776" y="2610910"/>
            <a:ext cx="11005232" cy="121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2025 ICCAD Contest – Check Point 2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510776" y="3830111"/>
            <a:ext cx="9076423" cy="75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lvl="0" indent="-431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Problem E : RTL Re-connection</a:t>
            </a:r>
            <a:endParaRPr/>
          </a:p>
          <a:p>
            <a:pPr marL="457200" lvl="0" indent="-431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75" name="Google Shape;75;p1"/>
          <p:cNvSpPr txBox="1">
            <a:spLocks noGrp="1"/>
          </p:cNvSpPr>
          <p:nvPr>
            <p:ph type="sldNum" idx="12"/>
          </p:nvPr>
        </p:nvSpPr>
        <p:spPr>
          <a:xfrm>
            <a:off x="11620500" y="6619875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76" name="Google Shape;76;p1"/>
          <p:cNvSpPr txBox="1">
            <a:spLocks noGrp="1"/>
          </p:cNvSpPr>
          <p:nvPr>
            <p:ph type="body" idx="2"/>
          </p:nvPr>
        </p:nvSpPr>
        <p:spPr>
          <a:xfrm>
            <a:off x="510776" y="4586015"/>
            <a:ext cx="4894146" cy="43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Student: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113521142 沈立揚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110501521 徐松廷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110501022 陳冠宏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110501516 蔡昀翰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Advisor: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	Andy, Yu-Guang Chen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2" name="Google Shape;82;p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p2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 dirty="0"/>
              <a:t>Problem Definition </a:t>
            </a:r>
            <a:endParaRPr sz="2500" dirty="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 dirty="0"/>
              <a:t>Our Idea- Data Structures</a:t>
            </a:r>
            <a:endParaRPr sz="2500" dirty="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 dirty="0"/>
              <a:t>Our Idea- Algorithms</a:t>
            </a:r>
            <a:endParaRPr sz="2500" dirty="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 dirty="0"/>
              <a:t>Current Implementation Results</a:t>
            </a:r>
            <a:r>
              <a:rPr lang="zh-TW" altLang="en-US" sz="2500" dirty="0"/>
              <a:t> </a:t>
            </a:r>
            <a:r>
              <a:rPr lang="en-US" altLang="zh-TW" sz="2500" dirty="0"/>
              <a:t>(</a:t>
            </a:r>
            <a:r>
              <a:rPr lang="en-US" altLang="zh-TW" sz="2500" dirty="0">
                <a:solidFill>
                  <a:srgbClr val="FF0000"/>
                </a:solidFill>
              </a:rPr>
              <a:t>Including Program Demo</a:t>
            </a:r>
            <a:r>
              <a:rPr lang="en-US" altLang="zh-TW" sz="2500" dirty="0"/>
              <a:t>)</a:t>
            </a:r>
            <a:endParaRPr sz="2500" dirty="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 dirty="0"/>
              <a:t>Potential Challenges and Future Works</a:t>
            </a:r>
            <a:endParaRPr sz="2500" dirty="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 dirty="0"/>
              <a:t>A Table about Our Project</a:t>
            </a:r>
            <a:endParaRPr sz="2500" dirty="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 dirty="0"/>
              <a:t>Screenshot of Successful Registration</a:t>
            </a:r>
            <a:endParaRPr sz="2500" dirty="0"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 dirty="0"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413d355b1_0_0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9" name="Google Shape;89;g35413d355b1_0_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0" name="Google Shape;90;g35413d355b1_0_0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/>
              <a:t>Problem Definition </a:t>
            </a:r>
            <a:endParaRPr sz="250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Data Structures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Algorithms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Current Implementation Results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Potential Challenges and Future Works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A Table about Our Project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Screenshot of Successful Registration</a:t>
            </a:r>
            <a:endParaRPr sz="2500">
              <a:solidFill>
                <a:schemeClr val="lt2"/>
              </a:solidFill>
            </a:endParaRPr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Part 1-Problem Definition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8" name="Google Shape;98;p4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在module更新後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I/O訊號名稱會被修改，內部對應的Combinational Logic  RTL code 也會被修改。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我們要找到新舊I/O對應的訊號名稱，並確認module更新後邏輯與之前一致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720550" y="3951950"/>
            <a:ext cx="995936" cy="76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6486" y="2807701"/>
            <a:ext cx="5453252" cy="30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300" y="2807700"/>
            <a:ext cx="5453250" cy="305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413d355b1_1_0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7" name="Google Shape;107;g35413d355b1_1_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8" name="Google Shape;108;g35413d355b1_1_0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Problem Definition 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/>
              <a:t>Our Idea- Data Structures</a:t>
            </a:r>
            <a:endParaRPr sz="250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Algorithms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Current Implementation Results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Potential Challenges and Future Works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A Table about Our Project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Screenshot of Successful Registration</a:t>
            </a:r>
            <a:endParaRPr sz="2500">
              <a:solidFill>
                <a:schemeClr val="lt2"/>
              </a:solidFill>
            </a:endParaRPr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ca6e16c6f6df25f_0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Part 2-Data Structure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6ca6e16c6f6df25f_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6" name="Google Shape;116;g6ca6e16c6f6df25f_0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我們使用Abstract Syntax Tree(AST)來儲存程式碼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每個node代表一個運算子（+,-,AND,OR,MUX）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node的child則代表該運算子的component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會依照運算優先順序來建立tree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6ca6e16c6f6df25f_0"/>
          <p:cNvSpPr/>
          <p:nvPr/>
        </p:nvSpPr>
        <p:spPr>
          <a:xfrm>
            <a:off x="5223078" y="4014975"/>
            <a:ext cx="996000" cy="76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6ca6e16c6f6df25f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750" y="3858500"/>
            <a:ext cx="3751774" cy="10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6ca6e16c6f6df25f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0621" y="2505238"/>
            <a:ext cx="3844226" cy="378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ca6e16c6f6df25f_1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Part 2-Data Structure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6ca6e16c6f6df25f_1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7" name="Google Shape;127;g6ca6e16c6f6df25f_12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AST 的node依照運算子的不同會有不同數量的child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6ca6e16c6f6df25f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676" y="2134069"/>
            <a:ext cx="9262451" cy="35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6ca6e16c6f6df25f_23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Part 2-Data Structure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6ca6e16c6f6df25f_23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6" name="Google Shape;136;g6ca6e16c6f6df25f_23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AST 的表達並沒有唯一性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用函式normalize 來將AST轉換成唯一表達式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將ASCII code 較大的運算子放在right child來讓運算順序固定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6ca6e16c6f6df25f_23"/>
          <p:cNvSpPr/>
          <p:nvPr/>
        </p:nvSpPr>
        <p:spPr>
          <a:xfrm>
            <a:off x="5223078" y="4014975"/>
            <a:ext cx="996000" cy="76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g6ca6e16c6f6df25f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806" y="2590600"/>
            <a:ext cx="4314925" cy="39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6ca6e16c6f6df25f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368" y="2628374"/>
            <a:ext cx="3911976" cy="382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6ca6e16c6f6df25f_35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Part 2-Data Structure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6ca6e16c6f6df25f_35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47" name="Google Shape;147;g6ca6e16c6f6df25f_35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得到AST的唯一表達式後就能透過比對tree的結構來找到新舊名稱的對應關係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6ca6e16c6f6df25f_35"/>
          <p:cNvSpPr/>
          <p:nvPr/>
        </p:nvSpPr>
        <p:spPr>
          <a:xfrm>
            <a:off x="5474378" y="3789495"/>
            <a:ext cx="996000" cy="76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6ca6e16c6f6df25f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8250" y="2042787"/>
            <a:ext cx="4471749" cy="404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6ca6e16c6f6df25f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549" y="2078100"/>
            <a:ext cx="4614951" cy="39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413d355b1_1_6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56" name="Google Shape;156;g35413d355b1_1_6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7" name="Google Shape;157;g35413d355b1_1_6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Problem Definition 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Data Structures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/>
              <a:t>Our Idea- Algorithms</a:t>
            </a:r>
            <a:endParaRPr sz="250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Current Implementation Results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Potential Challenges and Future Works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A Table about Our Project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Screenshot of Successful Registration</a:t>
            </a:r>
            <a:endParaRPr sz="2500">
              <a:solidFill>
                <a:schemeClr val="lt2"/>
              </a:solidFill>
            </a:endParaRPr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4975faf7e_0_7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3-Algorithm</a:t>
            </a:r>
            <a:endParaRPr/>
          </a:p>
        </p:txBody>
      </p:sp>
      <p:sp>
        <p:nvSpPr>
          <p:cNvPr id="164" name="Google Shape;164;g354975faf7e_0_7"/>
          <p:cNvSpPr txBox="1">
            <a:spLocks noGrp="1"/>
          </p:cNvSpPr>
          <p:nvPr>
            <p:ph type="sldNum" idx="12"/>
          </p:nvPr>
        </p:nvSpPr>
        <p:spPr>
          <a:xfrm>
            <a:off x="11430000" y="6620256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5" name="Google Shape;165;g354975faf7e_0_7"/>
          <p:cNvSpPr/>
          <p:nvPr/>
        </p:nvSpPr>
        <p:spPr>
          <a:xfrm>
            <a:off x="328700" y="2509388"/>
            <a:ext cx="2329800" cy="13560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read input file </a:t>
            </a: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&amp;</a:t>
            </a: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store data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6" name="Google Shape;166;g354975faf7e_0_7"/>
          <p:cNvSpPr/>
          <p:nvPr/>
        </p:nvSpPr>
        <p:spPr>
          <a:xfrm>
            <a:off x="3864288" y="1368750"/>
            <a:ext cx="1959300" cy="9417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create AST</a:t>
            </a:r>
            <a:endParaRPr sz="2400"/>
          </a:p>
        </p:txBody>
      </p:sp>
      <p:sp>
        <p:nvSpPr>
          <p:cNvPr id="167" name="Google Shape;167;g354975faf7e_0_7"/>
          <p:cNvSpPr/>
          <p:nvPr/>
        </p:nvSpPr>
        <p:spPr>
          <a:xfrm>
            <a:off x="3864288" y="4071175"/>
            <a:ext cx="1959300" cy="9417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create ROBDD</a:t>
            </a:r>
            <a:endParaRPr sz="2400"/>
          </a:p>
        </p:txBody>
      </p:sp>
      <p:sp>
        <p:nvSpPr>
          <p:cNvPr id="168" name="Google Shape;168;g354975faf7e_0_7"/>
          <p:cNvSpPr txBox="1"/>
          <p:nvPr/>
        </p:nvSpPr>
        <p:spPr>
          <a:xfrm>
            <a:off x="1904988" y="1601888"/>
            <a:ext cx="195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 = in1 + in2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9" name="Google Shape;169;g354975faf7e_0_7"/>
          <p:cNvSpPr txBox="1"/>
          <p:nvPr/>
        </p:nvSpPr>
        <p:spPr>
          <a:xfrm>
            <a:off x="1904988" y="4311175"/>
            <a:ext cx="195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and(out,in1,in2)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70" name="Google Shape;170;g354975faf7e_0_7"/>
          <p:cNvCxnSpPr>
            <a:stCxn id="165" idx="3"/>
            <a:endCxn id="168" idx="3"/>
          </p:cNvCxnSpPr>
          <p:nvPr/>
        </p:nvCxnSpPr>
        <p:spPr>
          <a:xfrm rot="10800000" flipH="1">
            <a:off x="2658500" y="1832888"/>
            <a:ext cx="1205700" cy="1354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g354975faf7e_0_7"/>
          <p:cNvCxnSpPr>
            <a:stCxn id="165" idx="3"/>
            <a:endCxn id="169" idx="3"/>
          </p:cNvCxnSpPr>
          <p:nvPr/>
        </p:nvCxnSpPr>
        <p:spPr>
          <a:xfrm>
            <a:off x="2658500" y="3187388"/>
            <a:ext cx="1205700" cy="1354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2" name="Google Shape;172;g354975faf7e_0_7"/>
          <p:cNvSpPr/>
          <p:nvPr/>
        </p:nvSpPr>
        <p:spPr>
          <a:xfrm>
            <a:off x="8965638" y="1539150"/>
            <a:ext cx="2650200" cy="6009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1905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compare &amp; map</a:t>
            </a:r>
            <a:endParaRPr sz="2400"/>
          </a:p>
        </p:txBody>
      </p:sp>
      <p:sp>
        <p:nvSpPr>
          <p:cNvPr id="173" name="Google Shape;173;g354975faf7e_0_7"/>
          <p:cNvSpPr/>
          <p:nvPr/>
        </p:nvSpPr>
        <p:spPr>
          <a:xfrm>
            <a:off x="5962388" y="1048950"/>
            <a:ext cx="360000" cy="15813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54975faf7e_0_7"/>
          <p:cNvSpPr/>
          <p:nvPr/>
        </p:nvSpPr>
        <p:spPr>
          <a:xfrm>
            <a:off x="5962388" y="3751375"/>
            <a:ext cx="360000" cy="15813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54975faf7e_0_7"/>
          <p:cNvSpPr txBox="1"/>
          <p:nvPr/>
        </p:nvSpPr>
        <p:spPr>
          <a:xfrm>
            <a:off x="6322388" y="1097300"/>
            <a:ext cx="14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old AST</a:t>
            </a:r>
            <a:endParaRPr sz="2400"/>
          </a:p>
        </p:txBody>
      </p:sp>
      <p:sp>
        <p:nvSpPr>
          <p:cNvPr id="176" name="Google Shape;176;g354975faf7e_0_7"/>
          <p:cNvSpPr txBox="1"/>
          <p:nvPr/>
        </p:nvSpPr>
        <p:spPr>
          <a:xfrm>
            <a:off x="6322388" y="2063600"/>
            <a:ext cx="14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AST</a:t>
            </a:r>
            <a:endParaRPr sz="2400"/>
          </a:p>
        </p:txBody>
      </p:sp>
      <p:cxnSp>
        <p:nvCxnSpPr>
          <p:cNvPr id="177" name="Google Shape;177;g354975faf7e_0_7"/>
          <p:cNvCxnSpPr>
            <a:stCxn id="175" idx="3"/>
          </p:cNvCxnSpPr>
          <p:nvPr/>
        </p:nvCxnSpPr>
        <p:spPr>
          <a:xfrm>
            <a:off x="7777988" y="1374350"/>
            <a:ext cx="1186500" cy="278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g354975faf7e_0_7"/>
          <p:cNvCxnSpPr>
            <a:stCxn id="176" idx="3"/>
          </p:cNvCxnSpPr>
          <p:nvPr/>
        </p:nvCxnSpPr>
        <p:spPr>
          <a:xfrm rot="10800000" flipH="1">
            <a:off x="7777988" y="2032250"/>
            <a:ext cx="1186500" cy="308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" name="Google Shape;179;g354975faf7e_0_7"/>
          <p:cNvSpPr/>
          <p:nvPr/>
        </p:nvSpPr>
        <p:spPr>
          <a:xfrm>
            <a:off x="7612650" y="1670675"/>
            <a:ext cx="1186500" cy="34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normalize</a:t>
            </a:r>
            <a:endParaRPr sz="1800"/>
          </a:p>
        </p:txBody>
      </p:sp>
      <p:sp>
        <p:nvSpPr>
          <p:cNvPr id="180" name="Google Shape;180;g354975faf7e_0_7"/>
          <p:cNvSpPr/>
          <p:nvPr/>
        </p:nvSpPr>
        <p:spPr>
          <a:xfrm>
            <a:off x="8965638" y="4223675"/>
            <a:ext cx="2650200" cy="6009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1905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compare &amp; map</a:t>
            </a:r>
            <a:endParaRPr sz="2400"/>
          </a:p>
        </p:txBody>
      </p:sp>
      <p:sp>
        <p:nvSpPr>
          <p:cNvPr id="181" name="Google Shape;181;g354975faf7e_0_7"/>
          <p:cNvSpPr txBox="1"/>
          <p:nvPr/>
        </p:nvSpPr>
        <p:spPr>
          <a:xfrm>
            <a:off x="6322400" y="3781825"/>
            <a:ext cx="183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old ROBDD</a:t>
            </a:r>
            <a:endParaRPr sz="2400"/>
          </a:p>
        </p:txBody>
      </p:sp>
      <p:sp>
        <p:nvSpPr>
          <p:cNvPr id="182" name="Google Shape;182;g354975faf7e_0_7"/>
          <p:cNvSpPr txBox="1"/>
          <p:nvPr/>
        </p:nvSpPr>
        <p:spPr>
          <a:xfrm>
            <a:off x="6322400" y="4748125"/>
            <a:ext cx="1959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ROBDD</a:t>
            </a:r>
            <a:endParaRPr sz="2400"/>
          </a:p>
        </p:txBody>
      </p:sp>
      <p:cxnSp>
        <p:nvCxnSpPr>
          <p:cNvPr id="183" name="Google Shape;183;g354975faf7e_0_7"/>
          <p:cNvCxnSpPr>
            <a:stCxn id="181" idx="3"/>
          </p:cNvCxnSpPr>
          <p:nvPr/>
        </p:nvCxnSpPr>
        <p:spPr>
          <a:xfrm>
            <a:off x="8160800" y="4058875"/>
            <a:ext cx="807000" cy="26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g354975faf7e_0_7"/>
          <p:cNvCxnSpPr>
            <a:stCxn id="182" idx="3"/>
          </p:cNvCxnSpPr>
          <p:nvPr/>
        </p:nvCxnSpPr>
        <p:spPr>
          <a:xfrm rot="10800000" flipH="1">
            <a:off x="8281700" y="4748275"/>
            <a:ext cx="682800" cy="27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5" name="Google Shape;185;g354975faf7e_0_7"/>
          <p:cNvSpPr/>
          <p:nvPr/>
        </p:nvSpPr>
        <p:spPr>
          <a:xfrm>
            <a:off x="7612650" y="4355200"/>
            <a:ext cx="1186500" cy="34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normalize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4975faf7e_0_14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3-Algorithm</a:t>
            </a:r>
            <a:endParaRPr/>
          </a:p>
        </p:txBody>
      </p:sp>
      <p:sp>
        <p:nvSpPr>
          <p:cNvPr id="192" name="Google Shape;192;g354975faf7e_0_14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193" name="Google Shape;193;g354975faf7e_0_14"/>
          <p:cNvGraphicFramePr/>
          <p:nvPr/>
        </p:nvGraphicFramePr>
        <p:xfrm>
          <a:off x="601125" y="1962750"/>
          <a:ext cx="4369050" cy="411915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145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6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/>
                        <a:t>logic</a:t>
                      </a:r>
                      <a:endParaRPr sz="2400" b="1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/>
                        <a:t>operator</a:t>
                      </a:r>
                      <a:endParaRPr sz="24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and</a:t>
                      </a: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or</a:t>
                      </a: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*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=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not</a:t>
                      </a: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&amp;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|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nand</a:t>
                      </a: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^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&gt;&gt;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nor</a:t>
                      </a: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 :</a:t>
                      </a:r>
                      <a:endParaRPr sz="2400"/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4" name="Google Shape;194;g354975faf7e_0_14"/>
          <p:cNvSpPr txBox="1"/>
          <p:nvPr/>
        </p:nvSpPr>
        <p:spPr>
          <a:xfrm>
            <a:off x="601125" y="1206625"/>
            <a:ext cx="265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兩種module：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5" name="Google Shape;195;g354975faf7e_0_14"/>
          <p:cNvSpPr txBox="1"/>
          <p:nvPr/>
        </p:nvSpPr>
        <p:spPr>
          <a:xfrm>
            <a:off x="5874700" y="1962750"/>
            <a:ext cx="5772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logic： 結果相同，但logic可能改變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	  e.g. AB+AC = A(B+C)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	  </a:t>
            </a:r>
            <a:r>
              <a:rPr lang="en-US" sz="2400">
                <a:solidFill>
                  <a:srgbClr val="FF0000"/>
                </a:solidFill>
              </a:rPr>
              <a:t>⇒ 使用ROBDD</a:t>
            </a:r>
            <a:endParaRPr sz="24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operateor： 有特殊功能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	  e.g. A&gt;&gt;1,  A ? B : C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	  </a:t>
            </a:r>
            <a:r>
              <a:rPr lang="en-US" sz="2400">
                <a:solidFill>
                  <a:srgbClr val="FF0000"/>
                </a:solidFill>
              </a:rPr>
              <a:t>⇒ 使用AST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4975faf7e_0_21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3-Algorithm (AST)</a:t>
            </a:r>
            <a:endParaRPr/>
          </a:p>
        </p:txBody>
      </p:sp>
      <p:sp>
        <p:nvSpPr>
          <p:cNvPr id="202" name="Google Shape;202;g354975faf7e_0_21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3" name="Google Shape;203;g354975faf7e_0_21"/>
          <p:cNvSpPr/>
          <p:nvPr/>
        </p:nvSpPr>
        <p:spPr>
          <a:xfrm>
            <a:off x="1568925" y="1556350"/>
            <a:ext cx="1475700" cy="18726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4" name="Google Shape;204;g354975faf7e_0_21"/>
          <p:cNvCxnSpPr/>
          <p:nvPr/>
        </p:nvCxnSpPr>
        <p:spPr>
          <a:xfrm>
            <a:off x="1064950" y="18586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5" name="Google Shape;205;g354975faf7e_0_21"/>
          <p:cNvCxnSpPr/>
          <p:nvPr/>
        </p:nvCxnSpPr>
        <p:spPr>
          <a:xfrm>
            <a:off x="1069438" y="22810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g354975faf7e_0_21"/>
          <p:cNvCxnSpPr/>
          <p:nvPr/>
        </p:nvCxnSpPr>
        <p:spPr>
          <a:xfrm>
            <a:off x="1061963" y="27034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g354975faf7e_0_21"/>
          <p:cNvCxnSpPr/>
          <p:nvPr/>
        </p:nvCxnSpPr>
        <p:spPr>
          <a:xfrm>
            <a:off x="1066450" y="31258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g354975faf7e_0_21"/>
          <p:cNvCxnSpPr/>
          <p:nvPr/>
        </p:nvCxnSpPr>
        <p:spPr>
          <a:xfrm>
            <a:off x="3052088" y="20698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g354975faf7e_0_21"/>
          <p:cNvCxnSpPr/>
          <p:nvPr/>
        </p:nvCxnSpPr>
        <p:spPr>
          <a:xfrm>
            <a:off x="3044613" y="24922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g354975faf7e_0_21"/>
          <p:cNvSpPr txBox="1"/>
          <p:nvPr/>
        </p:nvSpPr>
        <p:spPr>
          <a:xfrm>
            <a:off x="445525" y="16282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inA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11" name="Google Shape;211;g354975faf7e_0_21"/>
          <p:cNvCxnSpPr/>
          <p:nvPr/>
        </p:nvCxnSpPr>
        <p:spPr>
          <a:xfrm>
            <a:off x="3044613" y="29146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" name="Google Shape;212;g354975faf7e_0_21"/>
          <p:cNvSpPr txBox="1"/>
          <p:nvPr/>
        </p:nvSpPr>
        <p:spPr>
          <a:xfrm>
            <a:off x="445525" y="20506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3" name="Google Shape;213;g354975faf7e_0_21"/>
          <p:cNvSpPr txBox="1"/>
          <p:nvPr/>
        </p:nvSpPr>
        <p:spPr>
          <a:xfrm>
            <a:off x="445525" y="24730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4" name="Google Shape;214;g354975faf7e_0_21"/>
          <p:cNvSpPr txBox="1"/>
          <p:nvPr/>
        </p:nvSpPr>
        <p:spPr>
          <a:xfrm>
            <a:off x="445525" y="28954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5" name="Google Shape;215;g354975faf7e_0_21"/>
          <p:cNvSpPr txBox="1"/>
          <p:nvPr/>
        </p:nvSpPr>
        <p:spPr>
          <a:xfrm>
            <a:off x="3621125" y="18394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6" name="Google Shape;216;g354975faf7e_0_21"/>
          <p:cNvSpPr txBox="1"/>
          <p:nvPr/>
        </p:nvSpPr>
        <p:spPr>
          <a:xfrm>
            <a:off x="3621125" y="22618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7" name="Google Shape;217;g354975faf7e_0_21"/>
          <p:cNvSpPr txBox="1"/>
          <p:nvPr/>
        </p:nvSpPr>
        <p:spPr>
          <a:xfrm>
            <a:off x="3621125" y="26842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8" name="Google Shape;218;g354975faf7e_0_21"/>
          <p:cNvSpPr/>
          <p:nvPr/>
        </p:nvSpPr>
        <p:spPr>
          <a:xfrm>
            <a:off x="1568925" y="4037375"/>
            <a:ext cx="1475700" cy="1872600"/>
          </a:xfrm>
          <a:prstGeom prst="rect">
            <a:avLst/>
          </a:prstGeom>
          <a:solidFill>
            <a:srgbClr val="F9CB9C"/>
          </a:solidFill>
          <a:ln w="1905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g354975faf7e_0_21"/>
          <p:cNvCxnSpPr/>
          <p:nvPr/>
        </p:nvCxnSpPr>
        <p:spPr>
          <a:xfrm>
            <a:off x="1064950" y="43396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g354975faf7e_0_21"/>
          <p:cNvCxnSpPr/>
          <p:nvPr/>
        </p:nvCxnSpPr>
        <p:spPr>
          <a:xfrm>
            <a:off x="1069438" y="47620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g354975faf7e_0_21"/>
          <p:cNvCxnSpPr/>
          <p:nvPr/>
        </p:nvCxnSpPr>
        <p:spPr>
          <a:xfrm>
            <a:off x="1061963" y="51844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g354975faf7e_0_21"/>
          <p:cNvCxnSpPr/>
          <p:nvPr/>
        </p:nvCxnSpPr>
        <p:spPr>
          <a:xfrm>
            <a:off x="1066450" y="56068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g354975faf7e_0_21"/>
          <p:cNvCxnSpPr/>
          <p:nvPr/>
        </p:nvCxnSpPr>
        <p:spPr>
          <a:xfrm>
            <a:off x="3052088" y="45508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g354975faf7e_0_21"/>
          <p:cNvCxnSpPr/>
          <p:nvPr/>
        </p:nvCxnSpPr>
        <p:spPr>
          <a:xfrm>
            <a:off x="3044613" y="49732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5" name="Google Shape;225;g354975faf7e_0_21"/>
          <p:cNvSpPr txBox="1"/>
          <p:nvPr/>
        </p:nvSpPr>
        <p:spPr>
          <a:xfrm>
            <a:off x="445525" y="41092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26" name="Google Shape;226;g354975faf7e_0_21"/>
          <p:cNvCxnSpPr/>
          <p:nvPr/>
        </p:nvCxnSpPr>
        <p:spPr>
          <a:xfrm>
            <a:off x="3044613" y="53956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7" name="Google Shape;227;g354975faf7e_0_21"/>
          <p:cNvSpPr txBox="1"/>
          <p:nvPr/>
        </p:nvSpPr>
        <p:spPr>
          <a:xfrm>
            <a:off x="445525" y="45316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8" name="Google Shape;228;g354975faf7e_0_21"/>
          <p:cNvSpPr txBox="1"/>
          <p:nvPr/>
        </p:nvSpPr>
        <p:spPr>
          <a:xfrm>
            <a:off x="445525" y="49540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9" name="Google Shape;229;g354975faf7e_0_21"/>
          <p:cNvSpPr txBox="1"/>
          <p:nvPr/>
        </p:nvSpPr>
        <p:spPr>
          <a:xfrm>
            <a:off x="445525" y="53764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in4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0" name="Google Shape;230;g354975faf7e_0_21"/>
          <p:cNvSpPr txBox="1"/>
          <p:nvPr/>
        </p:nvSpPr>
        <p:spPr>
          <a:xfrm>
            <a:off x="3621125" y="43204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1" name="Google Shape;231;g354975faf7e_0_21"/>
          <p:cNvSpPr txBox="1"/>
          <p:nvPr/>
        </p:nvSpPr>
        <p:spPr>
          <a:xfrm>
            <a:off x="3621125" y="47428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2" name="Google Shape;232;g354975faf7e_0_21"/>
          <p:cNvSpPr txBox="1"/>
          <p:nvPr/>
        </p:nvSpPr>
        <p:spPr>
          <a:xfrm>
            <a:off x="3621125" y="51652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3" name="Google Shape;233;g354975faf7e_0_21"/>
          <p:cNvSpPr txBox="1"/>
          <p:nvPr/>
        </p:nvSpPr>
        <p:spPr>
          <a:xfrm>
            <a:off x="1642450" y="2030950"/>
            <a:ext cx="131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old module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34" name="Google Shape;234;g354975faf7e_0_21"/>
          <p:cNvSpPr txBox="1"/>
          <p:nvPr/>
        </p:nvSpPr>
        <p:spPr>
          <a:xfrm>
            <a:off x="1671850" y="4511975"/>
            <a:ext cx="1254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module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35" name="Google Shape;235;g354975faf7e_0_21"/>
          <p:cNvSpPr/>
          <p:nvPr/>
        </p:nvSpPr>
        <p:spPr>
          <a:xfrm>
            <a:off x="5266265" y="18394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236" name="Google Shape;236;g354975faf7e_0_21"/>
          <p:cNvSpPr/>
          <p:nvPr/>
        </p:nvSpPr>
        <p:spPr>
          <a:xfrm>
            <a:off x="4758853" y="23668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237" name="Google Shape;237;g354975faf7e_0_21"/>
          <p:cNvSpPr/>
          <p:nvPr/>
        </p:nvSpPr>
        <p:spPr>
          <a:xfrm>
            <a:off x="5792065" y="23668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238" name="Google Shape;238;g354975faf7e_0_21"/>
          <p:cNvSpPr/>
          <p:nvPr/>
        </p:nvSpPr>
        <p:spPr>
          <a:xfrm>
            <a:off x="5538315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239" name="Google Shape;239;g354975faf7e_0_21"/>
          <p:cNvSpPr/>
          <p:nvPr/>
        </p:nvSpPr>
        <p:spPr>
          <a:xfrm>
            <a:off x="6059815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</a:t>
            </a:r>
            <a:endParaRPr/>
          </a:p>
        </p:txBody>
      </p:sp>
      <p:cxnSp>
        <p:nvCxnSpPr>
          <p:cNvPr id="240" name="Google Shape;240;g354975faf7e_0_21"/>
          <p:cNvCxnSpPr>
            <a:stCxn id="235" idx="3"/>
            <a:endCxn id="236" idx="0"/>
          </p:cNvCxnSpPr>
          <p:nvPr/>
        </p:nvCxnSpPr>
        <p:spPr>
          <a:xfrm flipH="1">
            <a:off x="4987320" y="222964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g354975faf7e_0_21"/>
          <p:cNvCxnSpPr>
            <a:stCxn id="235" idx="5"/>
            <a:endCxn id="237" idx="0"/>
          </p:cNvCxnSpPr>
          <p:nvPr/>
        </p:nvCxnSpPr>
        <p:spPr>
          <a:xfrm>
            <a:off x="5656510" y="222964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g354975faf7e_0_21"/>
          <p:cNvCxnSpPr>
            <a:stCxn id="237" idx="3"/>
            <a:endCxn id="238" idx="0"/>
          </p:cNvCxnSpPr>
          <p:nvPr/>
        </p:nvCxnSpPr>
        <p:spPr>
          <a:xfrm flipH="1">
            <a:off x="5766920" y="275704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" name="Google Shape;243;g354975faf7e_0_21"/>
          <p:cNvCxnSpPr>
            <a:stCxn id="237" idx="5"/>
            <a:endCxn id="239" idx="0"/>
          </p:cNvCxnSpPr>
          <p:nvPr/>
        </p:nvCxnSpPr>
        <p:spPr>
          <a:xfrm>
            <a:off x="6182310" y="275704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" name="Google Shape;244;g354975faf7e_0_21"/>
          <p:cNvSpPr/>
          <p:nvPr/>
        </p:nvSpPr>
        <p:spPr>
          <a:xfrm>
            <a:off x="4511040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245" name="Google Shape;245;g354975faf7e_0_21"/>
          <p:cNvSpPr/>
          <p:nvPr/>
        </p:nvSpPr>
        <p:spPr>
          <a:xfrm>
            <a:off x="5032540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inB</a:t>
            </a:r>
            <a:endParaRPr/>
          </a:p>
        </p:txBody>
      </p:sp>
      <p:cxnSp>
        <p:nvCxnSpPr>
          <p:cNvPr id="246" name="Google Shape;246;g354975faf7e_0_21"/>
          <p:cNvCxnSpPr>
            <a:stCxn id="236" idx="3"/>
            <a:endCxn id="244" idx="0"/>
          </p:cNvCxnSpPr>
          <p:nvPr/>
        </p:nvCxnSpPr>
        <p:spPr>
          <a:xfrm flipH="1">
            <a:off x="4739708" y="2757045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g354975faf7e_0_21"/>
          <p:cNvCxnSpPr>
            <a:stCxn id="236" idx="5"/>
            <a:endCxn id="245" idx="0"/>
          </p:cNvCxnSpPr>
          <p:nvPr/>
        </p:nvCxnSpPr>
        <p:spPr>
          <a:xfrm>
            <a:off x="5149097" y="2757045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g354975faf7e_0_21"/>
          <p:cNvSpPr txBox="1"/>
          <p:nvPr/>
        </p:nvSpPr>
        <p:spPr>
          <a:xfrm>
            <a:off x="5121628" y="13716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9" name="Google Shape;249;g354975faf7e_0_21"/>
          <p:cNvSpPr/>
          <p:nvPr/>
        </p:nvSpPr>
        <p:spPr>
          <a:xfrm>
            <a:off x="5266265" y="43082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250" name="Google Shape;250;g354975faf7e_0_21"/>
          <p:cNvSpPr/>
          <p:nvPr/>
        </p:nvSpPr>
        <p:spPr>
          <a:xfrm>
            <a:off x="4758853" y="48356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251" name="Google Shape;251;g354975faf7e_0_21"/>
          <p:cNvSpPr/>
          <p:nvPr/>
        </p:nvSpPr>
        <p:spPr>
          <a:xfrm>
            <a:off x="5792065" y="48356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252" name="Google Shape;252;g354975faf7e_0_21"/>
          <p:cNvSpPr/>
          <p:nvPr/>
        </p:nvSpPr>
        <p:spPr>
          <a:xfrm>
            <a:off x="5538315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253" name="Google Shape;253;g354975faf7e_0_21"/>
          <p:cNvSpPr/>
          <p:nvPr/>
        </p:nvSpPr>
        <p:spPr>
          <a:xfrm>
            <a:off x="6059815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in3</a:t>
            </a:r>
            <a:endParaRPr/>
          </a:p>
        </p:txBody>
      </p:sp>
      <p:cxnSp>
        <p:nvCxnSpPr>
          <p:cNvPr id="254" name="Google Shape;254;g354975faf7e_0_21"/>
          <p:cNvCxnSpPr>
            <a:stCxn id="249" idx="3"/>
            <a:endCxn id="250" idx="0"/>
          </p:cNvCxnSpPr>
          <p:nvPr/>
        </p:nvCxnSpPr>
        <p:spPr>
          <a:xfrm flipH="1">
            <a:off x="4987320" y="469852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5" name="Google Shape;255;g354975faf7e_0_21"/>
          <p:cNvCxnSpPr>
            <a:stCxn id="249" idx="5"/>
            <a:endCxn id="251" idx="0"/>
          </p:cNvCxnSpPr>
          <p:nvPr/>
        </p:nvCxnSpPr>
        <p:spPr>
          <a:xfrm>
            <a:off x="5656510" y="469852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" name="Google Shape;256;g354975faf7e_0_21"/>
          <p:cNvCxnSpPr>
            <a:stCxn id="251" idx="3"/>
            <a:endCxn id="252" idx="0"/>
          </p:cNvCxnSpPr>
          <p:nvPr/>
        </p:nvCxnSpPr>
        <p:spPr>
          <a:xfrm flipH="1">
            <a:off x="5766920" y="522592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" name="Google Shape;257;g354975faf7e_0_21"/>
          <p:cNvCxnSpPr>
            <a:stCxn id="251" idx="5"/>
            <a:endCxn id="253" idx="0"/>
          </p:cNvCxnSpPr>
          <p:nvPr/>
        </p:nvCxnSpPr>
        <p:spPr>
          <a:xfrm>
            <a:off x="6182310" y="522592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8" name="Google Shape;258;g354975faf7e_0_21"/>
          <p:cNvSpPr/>
          <p:nvPr/>
        </p:nvSpPr>
        <p:spPr>
          <a:xfrm>
            <a:off x="4511040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259" name="Google Shape;259;g354975faf7e_0_21"/>
          <p:cNvSpPr/>
          <p:nvPr/>
        </p:nvSpPr>
        <p:spPr>
          <a:xfrm>
            <a:off x="5032540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in2</a:t>
            </a:r>
            <a:endParaRPr/>
          </a:p>
        </p:txBody>
      </p:sp>
      <p:cxnSp>
        <p:nvCxnSpPr>
          <p:cNvPr id="260" name="Google Shape;260;g354975faf7e_0_21"/>
          <p:cNvCxnSpPr>
            <a:stCxn id="250" idx="3"/>
            <a:endCxn id="258" idx="0"/>
          </p:cNvCxnSpPr>
          <p:nvPr/>
        </p:nvCxnSpPr>
        <p:spPr>
          <a:xfrm flipH="1">
            <a:off x="4739708" y="5225925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Google Shape;261;g354975faf7e_0_21"/>
          <p:cNvCxnSpPr>
            <a:stCxn id="250" idx="5"/>
            <a:endCxn id="259" idx="0"/>
          </p:cNvCxnSpPr>
          <p:nvPr/>
        </p:nvCxnSpPr>
        <p:spPr>
          <a:xfrm>
            <a:off x="5149097" y="5225925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2" name="Google Shape;262;g354975faf7e_0_21"/>
          <p:cNvSpPr txBox="1"/>
          <p:nvPr/>
        </p:nvSpPr>
        <p:spPr>
          <a:xfrm>
            <a:off x="5121628" y="384048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out2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63" name="Google Shape;263;g354975faf7e_0_21"/>
          <p:cNvGraphicFramePr/>
          <p:nvPr/>
        </p:nvGraphicFramePr>
        <p:xfrm>
          <a:off x="6930850" y="2954350"/>
          <a:ext cx="2135850" cy="162405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68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outA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inA, inB, inC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outB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inA, inB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outC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inA, inC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4" name="Google Shape;264;g354975faf7e_0_21"/>
          <p:cNvGraphicFramePr/>
          <p:nvPr/>
        </p:nvGraphicFramePr>
        <p:xfrm>
          <a:off x="9709125" y="2952550"/>
          <a:ext cx="2139700" cy="162765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72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out1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in1, in2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out2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in1, in2, in3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out3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in1, in3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65" name="Google Shape;265;g354975faf7e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150" y="1865537"/>
            <a:ext cx="2210481" cy="7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565383f02_0_225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3-Algorithm (AST)</a:t>
            </a:r>
            <a:endParaRPr/>
          </a:p>
        </p:txBody>
      </p:sp>
      <p:sp>
        <p:nvSpPr>
          <p:cNvPr id="272" name="Google Shape;272;g35565383f02_0_225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73" name="Google Shape;273;g35565383f02_0_225"/>
          <p:cNvSpPr/>
          <p:nvPr/>
        </p:nvSpPr>
        <p:spPr>
          <a:xfrm>
            <a:off x="1568925" y="1556350"/>
            <a:ext cx="1475700" cy="18726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4" name="Google Shape;274;g35565383f02_0_225"/>
          <p:cNvCxnSpPr/>
          <p:nvPr/>
        </p:nvCxnSpPr>
        <p:spPr>
          <a:xfrm>
            <a:off x="1064950" y="18586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" name="Google Shape;275;g35565383f02_0_225"/>
          <p:cNvCxnSpPr/>
          <p:nvPr/>
        </p:nvCxnSpPr>
        <p:spPr>
          <a:xfrm>
            <a:off x="1069438" y="22810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" name="Google Shape;276;g35565383f02_0_225"/>
          <p:cNvCxnSpPr/>
          <p:nvPr/>
        </p:nvCxnSpPr>
        <p:spPr>
          <a:xfrm>
            <a:off x="1061963" y="27034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7" name="Google Shape;277;g35565383f02_0_225"/>
          <p:cNvCxnSpPr/>
          <p:nvPr/>
        </p:nvCxnSpPr>
        <p:spPr>
          <a:xfrm>
            <a:off x="1066450" y="31258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g35565383f02_0_225"/>
          <p:cNvCxnSpPr/>
          <p:nvPr/>
        </p:nvCxnSpPr>
        <p:spPr>
          <a:xfrm>
            <a:off x="3052088" y="20698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" name="Google Shape;279;g35565383f02_0_225"/>
          <p:cNvCxnSpPr/>
          <p:nvPr/>
        </p:nvCxnSpPr>
        <p:spPr>
          <a:xfrm>
            <a:off x="3044613" y="24922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0" name="Google Shape;280;g35565383f02_0_225"/>
          <p:cNvSpPr txBox="1"/>
          <p:nvPr/>
        </p:nvSpPr>
        <p:spPr>
          <a:xfrm>
            <a:off x="445525" y="16282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inA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81" name="Google Shape;281;g35565383f02_0_225"/>
          <p:cNvCxnSpPr/>
          <p:nvPr/>
        </p:nvCxnSpPr>
        <p:spPr>
          <a:xfrm>
            <a:off x="3044613" y="29146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2" name="Google Shape;282;g35565383f02_0_225"/>
          <p:cNvSpPr txBox="1"/>
          <p:nvPr/>
        </p:nvSpPr>
        <p:spPr>
          <a:xfrm>
            <a:off x="445525" y="20506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3" name="Google Shape;283;g35565383f02_0_225"/>
          <p:cNvSpPr txBox="1"/>
          <p:nvPr/>
        </p:nvSpPr>
        <p:spPr>
          <a:xfrm>
            <a:off x="445525" y="24730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4" name="Google Shape;284;g35565383f02_0_225"/>
          <p:cNvSpPr txBox="1"/>
          <p:nvPr/>
        </p:nvSpPr>
        <p:spPr>
          <a:xfrm>
            <a:off x="445525" y="28954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5" name="Google Shape;285;g35565383f02_0_225"/>
          <p:cNvSpPr txBox="1"/>
          <p:nvPr/>
        </p:nvSpPr>
        <p:spPr>
          <a:xfrm>
            <a:off x="3621125" y="18394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6" name="Google Shape;286;g35565383f02_0_225"/>
          <p:cNvSpPr txBox="1"/>
          <p:nvPr/>
        </p:nvSpPr>
        <p:spPr>
          <a:xfrm>
            <a:off x="3621125" y="22618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7" name="Google Shape;287;g35565383f02_0_225"/>
          <p:cNvSpPr txBox="1"/>
          <p:nvPr/>
        </p:nvSpPr>
        <p:spPr>
          <a:xfrm>
            <a:off x="3621125" y="26842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8" name="Google Shape;288;g35565383f02_0_225"/>
          <p:cNvSpPr/>
          <p:nvPr/>
        </p:nvSpPr>
        <p:spPr>
          <a:xfrm>
            <a:off x="1568925" y="4037375"/>
            <a:ext cx="1475700" cy="1872600"/>
          </a:xfrm>
          <a:prstGeom prst="rect">
            <a:avLst/>
          </a:prstGeom>
          <a:solidFill>
            <a:srgbClr val="F9CB9C"/>
          </a:solidFill>
          <a:ln w="1905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9" name="Google Shape;289;g35565383f02_0_225"/>
          <p:cNvCxnSpPr/>
          <p:nvPr/>
        </p:nvCxnSpPr>
        <p:spPr>
          <a:xfrm>
            <a:off x="1064950" y="43396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0" name="Google Shape;290;g35565383f02_0_225"/>
          <p:cNvCxnSpPr/>
          <p:nvPr/>
        </p:nvCxnSpPr>
        <p:spPr>
          <a:xfrm>
            <a:off x="1069438" y="47620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Google Shape;291;g35565383f02_0_225"/>
          <p:cNvCxnSpPr/>
          <p:nvPr/>
        </p:nvCxnSpPr>
        <p:spPr>
          <a:xfrm>
            <a:off x="1061963" y="51844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" name="Google Shape;292;g35565383f02_0_225"/>
          <p:cNvCxnSpPr/>
          <p:nvPr/>
        </p:nvCxnSpPr>
        <p:spPr>
          <a:xfrm>
            <a:off x="1066450" y="56068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" name="Google Shape;293;g35565383f02_0_225"/>
          <p:cNvCxnSpPr/>
          <p:nvPr/>
        </p:nvCxnSpPr>
        <p:spPr>
          <a:xfrm>
            <a:off x="3052088" y="45508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" name="Google Shape;294;g35565383f02_0_225"/>
          <p:cNvCxnSpPr/>
          <p:nvPr/>
        </p:nvCxnSpPr>
        <p:spPr>
          <a:xfrm>
            <a:off x="3044613" y="49732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5" name="Google Shape;295;g35565383f02_0_225"/>
          <p:cNvSpPr txBox="1"/>
          <p:nvPr/>
        </p:nvSpPr>
        <p:spPr>
          <a:xfrm>
            <a:off x="445525" y="41092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96" name="Google Shape;296;g35565383f02_0_225"/>
          <p:cNvCxnSpPr/>
          <p:nvPr/>
        </p:nvCxnSpPr>
        <p:spPr>
          <a:xfrm>
            <a:off x="3044613" y="53956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7" name="Google Shape;297;g35565383f02_0_225"/>
          <p:cNvSpPr txBox="1"/>
          <p:nvPr/>
        </p:nvSpPr>
        <p:spPr>
          <a:xfrm>
            <a:off x="445525" y="45316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8" name="Google Shape;298;g35565383f02_0_225"/>
          <p:cNvSpPr txBox="1"/>
          <p:nvPr/>
        </p:nvSpPr>
        <p:spPr>
          <a:xfrm>
            <a:off x="445525" y="49540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9" name="Google Shape;299;g35565383f02_0_225"/>
          <p:cNvSpPr txBox="1"/>
          <p:nvPr/>
        </p:nvSpPr>
        <p:spPr>
          <a:xfrm>
            <a:off x="445525" y="53764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in4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0" name="Google Shape;300;g35565383f02_0_225"/>
          <p:cNvSpPr txBox="1"/>
          <p:nvPr/>
        </p:nvSpPr>
        <p:spPr>
          <a:xfrm>
            <a:off x="3621125" y="43204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1" name="Google Shape;301;g35565383f02_0_225"/>
          <p:cNvSpPr txBox="1"/>
          <p:nvPr/>
        </p:nvSpPr>
        <p:spPr>
          <a:xfrm>
            <a:off x="3621125" y="47428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2" name="Google Shape;302;g35565383f02_0_225"/>
          <p:cNvSpPr txBox="1"/>
          <p:nvPr/>
        </p:nvSpPr>
        <p:spPr>
          <a:xfrm>
            <a:off x="3621125" y="51652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3" name="Google Shape;303;g35565383f02_0_225"/>
          <p:cNvSpPr txBox="1"/>
          <p:nvPr/>
        </p:nvSpPr>
        <p:spPr>
          <a:xfrm>
            <a:off x="1642450" y="2030950"/>
            <a:ext cx="131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old module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04" name="Google Shape;304;g35565383f02_0_225"/>
          <p:cNvSpPr txBox="1"/>
          <p:nvPr/>
        </p:nvSpPr>
        <p:spPr>
          <a:xfrm>
            <a:off x="1671850" y="4511975"/>
            <a:ext cx="1254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module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05" name="Google Shape;305;g35565383f02_0_225"/>
          <p:cNvSpPr/>
          <p:nvPr/>
        </p:nvSpPr>
        <p:spPr>
          <a:xfrm>
            <a:off x="5266265" y="18394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306" name="Google Shape;306;g35565383f02_0_225"/>
          <p:cNvSpPr/>
          <p:nvPr/>
        </p:nvSpPr>
        <p:spPr>
          <a:xfrm>
            <a:off x="4758853" y="23668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307" name="Google Shape;307;g35565383f02_0_225"/>
          <p:cNvSpPr/>
          <p:nvPr/>
        </p:nvSpPr>
        <p:spPr>
          <a:xfrm>
            <a:off x="5792065" y="23668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308" name="Google Shape;308;g35565383f02_0_225"/>
          <p:cNvSpPr/>
          <p:nvPr/>
        </p:nvSpPr>
        <p:spPr>
          <a:xfrm>
            <a:off x="5538315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309" name="Google Shape;309;g35565383f02_0_225"/>
          <p:cNvSpPr/>
          <p:nvPr/>
        </p:nvSpPr>
        <p:spPr>
          <a:xfrm>
            <a:off x="6059815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</a:t>
            </a:r>
            <a:endParaRPr/>
          </a:p>
        </p:txBody>
      </p:sp>
      <p:cxnSp>
        <p:nvCxnSpPr>
          <p:cNvPr id="310" name="Google Shape;310;g35565383f02_0_225"/>
          <p:cNvCxnSpPr>
            <a:stCxn id="305" idx="3"/>
            <a:endCxn id="306" idx="0"/>
          </p:cNvCxnSpPr>
          <p:nvPr/>
        </p:nvCxnSpPr>
        <p:spPr>
          <a:xfrm flipH="1">
            <a:off x="4987320" y="222964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1" name="Google Shape;311;g35565383f02_0_225"/>
          <p:cNvCxnSpPr>
            <a:stCxn id="305" idx="5"/>
            <a:endCxn id="307" idx="0"/>
          </p:cNvCxnSpPr>
          <p:nvPr/>
        </p:nvCxnSpPr>
        <p:spPr>
          <a:xfrm>
            <a:off x="5656510" y="222964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" name="Google Shape;312;g35565383f02_0_225"/>
          <p:cNvCxnSpPr>
            <a:stCxn id="307" idx="3"/>
            <a:endCxn id="308" idx="0"/>
          </p:cNvCxnSpPr>
          <p:nvPr/>
        </p:nvCxnSpPr>
        <p:spPr>
          <a:xfrm flipH="1">
            <a:off x="5766920" y="275704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" name="Google Shape;313;g35565383f02_0_225"/>
          <p:cNvCxnSpPr>
            <a:stCxn id="307" idx="5"/>
            <a:endCxn id="309" idx="0"/>
          </p:cNvCxnSpPr>
          <p:nvPr/>
        </p:nvCxnSpPr>
        <p:spPr>
          <a:xfrm>
            <a:off x="6182310" y="275704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4" name="Google Shape;314;g35565383f02_0_225"/>
          <p:cNvSpPr/>
          <p:nvPr/>
        </p:nvSpPr>
        <p:spPr>
          <a:xfrm>
            <a:off x="4511040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315" name="Google Shape;315;g35565383f02_0_225"/>
          <p:cNvSpPr/>
          <p:nvPr/>
        </p:nvSpPr>
        <p:spPr>
          <a:xfrm>
            <a:off x="5032540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inB</a:t>
            </a:r>
            <a:endParaRPr/>
          </a:p>
        </p:txBody>
      </p:sp>
      <p:cxnSp>
        <p:nvCxnSpPr>
          <p:cNvPr id="316" name="Google Shape;316;g35565383f02_0_225"/>
          <p:cNvCxnSpPr>
            <a:stCxn id="306" idx="5"/>
            <a:endCxn id="315" idx="0"/>
          </p:cNvCxnSpPr>
          <p:nvPr/>
        </p:nvCxnSpPr>
        <p:spPr>
          <a:xfrm>
            <a:off x="5149097" y="2757045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7" name="Google Shape;317;g35565383f02_0_225"/>
          <p:cNvSpPr txBox="1"/>
          <p:nvPr/>
        </p:nvSpPr>
        <p:spPr>
          <a:xfrm>
            <a:off x="5121628" y="13716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8" name="Google Shape;318;g35565383f02_0_225"/>
          <p:cNvSpPr/>
          <p:nvPr/>
        </p:nvSpPr>
        <p:spPr>
          <a:xfrm>
            <a:off x="5266265" y="43082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319" name="Google Shape;319;g35565383f02_0_225"/>
          <p:cNvSpPr/>
          <p:nvPr/>
        </p:nvSpPr>
        <p:spPr>
          <a:xfrm>
            <a:off x="4758853" y="48356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320" name="Google Shape;320;g35565383f02_0_225"/>
          <p:cNvSpPr/>
          <p:nvPr/>
        </p:nvSpPr>
        <p:spPr>
          <a:xfrm>
            <a:off x="5792065" y="48356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321" name="Google Shape;321;g35565383f02_0_225"/>
          <p:cNvSpPr/>
          <p:nvPr/>
        </p:nvSpPr>
        <p:spPr>
          <a:xfrm>
            <a:off x="5538315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322" name="Google Shape;322;g35565383f02_0_225"/>
          <p:cNvSpPr/>
          <p:nvPr/>
        </p:nvSpPr>
        <p:spPr>
          <a:xfrm>
            <a:off x="6059815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in3</a:t>
            </a:r>
            <a:endParaRPr/>
          </a:p>
        </p:txBody>
      </p:sp>
      <p:cxnSp>
        <p:nvCxnSpPr>
          <p:cNvPr id="323" name="Google Shape;323;g35565383f02_0_225"/>
          <p:cNvCxnSpPr>
            <a:stCxn id="318" idx="3"/>
            <a:endCxn id="319" idx="0"/>
          </p:cNvCxnSpPr>
          <p:nvPr/>
        </p:nvCxnSpPr>
        <p:spPr>
          <a:xfrm flipH="1">
            <a:off x="4987320" y="469852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" name="Google Shape;324;g35565383f02_0_225"/>
          <p:cNvCxnSpPr>
            <a:stCxn id="318" idx="5"/>
            <a:endCxn id="320" idx="0"/>
          </p:cNvCxnSpPr>
          <p:nvPr/>
        </p:nvCxnSpPr>
        <p:spPr>
          <a:xfrm>
            <a:off x="5656510" y="469852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g35565383f02_0_225"/>
          <p:cNvCxnSpPr>
            <a:stCxn id="320" idx="3"/>
            <a:endCxn id="321" idx="0"/>
          </p:cNvCxnSpPr>
          <p:nvPr/>
        </p:nvCxnSpPr>
        <p:spPr>
          <a:xfrm flipH="1">
            <a:off x="5766920" y="522592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6" name="Google Shape;326;g35565383f02_0_225"/>
          <p:cNvCxnSpPr>
            <a:stCxn id="320" idx="5"/>
            <a:endCxn id="322" idx="0"/>
          </p:cNvCxnSpPr>
          <p:nvPr/>
        </p:nvCxnSpPr>
        <p:spPr>
          <a:xfrm>
            <a:off x="6182310" y="522592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7" name="Google Shape;327;g35565383f02_0_225"/>
          <p:cNvSpPr/>
          <p:nvPr/>
        </p:nvSpPr>
        <p:spPr>
          <a:xfrm>
            <a:off x="4511040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328" name="Google Shape;328;g35565383f02_0_225"/>
          <p:cNvSpPr/>
          <p:nvPr/>
        </p:nvSpPr>
        <p:spPr>
          <a:xfrm>
            <a:off x="5032540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in2</a:t>
            </a:r>
            <a:endParaRPr/>
          </a:p>
        </p:txBody>
      </p:sp>
      <p:cxnSp>
        <p:nvCxnSpPr>
          <p:cNvPr id="329" name="Google Shape;329;g35565383f02_0_225"/>
          <p:cNvCxnSpPr>
            <a:stCxn id="319" idx="5"/>
            <a:endCxn id="328" idx="0"/>
          </p:cNvCxnSpPr>
          <p:nvPr/>
        </p:nvCxnSpPr>
        <p:spPr>
          <a:xfrm>
            <a:off x="5149097" y="5225925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0" name="Google Shape;330;g35565383f02_0_225"/>
          <p:cNvSpPr txBox="1"/>
          <p:nvPr/>
        </p:nvSpPr>
        <p:spPr>
          <a:xfrm>
            <a:off x="5121628" y="384048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out2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331" name="Google Shape;331;g35565383f02_0_225"/>
          <p:cNvGraphicFramePr/>
          <p:nvPr/>
        </p:nvGraphicFramePr>
        <p:xfrm>
          <a:off x="6930850" y="2954350"/>
          <a:ext cx="2135850" cy="162405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68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outA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inA, inB, inC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outB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inA, inB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outC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inA, inC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2" name="Google Shape;332;g35565383f02_0_225"/>
          <p:cNvGraphicFramePr/>
          <p:nvPr/>
        </p:nvGraphicFramePr>
        <p:xfrm>
          <a:off x="9709125" y="2952550"/>
          <a:ext cx="2139700" cy="162765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72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out1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in1, in2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out2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in1, in2, in3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out3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in1, in3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33" name="Google Shape;333;g35565383f02_0_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6760" y="1556362"/>
            <a:ext cx="2210481" cy="72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g35565383f02_0_225"/>
          <p:cNvCxnSpPr/>
          <p:nvPr/>
        </p:nvCxnSpPr>
        <p:spPr>
          <a:xfrm>
            <a:off x="9066400" y="3249075"/>
            <a:ext cx="643800" cy="555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5" name="Google Shape;335;g35565383f02_0_225"/>
          <p:cNvCxnSpPr>
            <a:stCxn id="306" idx="3"/>
            <a:endCxn id="314" idx="0"/>
          </p:cNvCxnSpPr>
          <p:nvPr/>
        </p:nvCxnSpPr>
        <p:spPr>
          <a:xfrm flipH="1">
            <a:off x="4739708" y="2757045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6" name="Google Shape;336;g35565383f02_0_225"/>
          <p:cNvCxnSpPr>
            <a:stCxn id="319" idx="3"/>
            <a:endCxn id="327" idx="0"/>
          </p:cNvCxnSpPr>
          <p:nvPr/>
        </p:nvCxnSpPr>
        <p:spPr>
          <a:xfrm flipH="1">
            <a:off x="4739708" y="5225925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7" name="Google Shape;337;g35565383f02_0_225"/>
          <p:cNvSpPr txBox="1"/>
          <p:nvPr/>
        </p:nvSpPr>
        <p:spPr>
          <a:xfrm>
            <a:off x="7888300" y="23645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outA⭢out2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565383f02_0_52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3-Algorithm (AST) </a:t>
            </a:r>
            <a:endParaRPr/>
          </a:p>
        </p:txBody>
      </p:sp>
      <p:sp>
        <p:nvSpPr>
          <p:cNvPr id="344" name="Google Shape;344;g35565383f02_0_52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45" name="Google Shape;345;g35565383f02_0_522"/>
          <p:cNvSpPr/>
          <p:nvPr/>
        </p:nvSpPr>
        <p:spPr>
          <a:xfrm>
            <a:off x="1568925" y="1556350"/>
            <a:ext cx="1475700" cy="18726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6" name="Google Shape;346;g35565383f02_0_522"/>
          <p:cNvCxnSpPr/>
          <p:nvPr/>
        </p:nvCxnSpPr>
        <p:spPr>
          <a:xfrm>
            <a:off x="1064950" y="18586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" name="Google Shape;347;g35565383f02_0_522"/>
          <p:cNvCxnSpPr/>
          <p:nvPr/>
        </p:nvCxnSpPr>
        <p:spPr>
          <a:xfrm>
            <a:off x="1069438" y="22810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Google Shape;348;g35565383f02_0_522"/>
          <p:cNvCxnSpPr/>
          <p:nvPr/>
        </p:nvCxnSpPr>
        <p:spPr>
          <a:xfrm>
            <a:off x="1061963" y="27034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g35565383f02_0_522"/>
          <p:cNvCxnSpPr/>
          <p:nvPr/>
        </p:nvCxnSpPr>
        <p:spPr>
          <a:xfrm>
            <a:off x="1066450" y="31258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" name="Google Shape;350;g35565383f02_0_522"/>
          <p:cNvCxnSpPr/>
          <p:nvPr/>
        </p:nvCxnSpPr>
        <p:spPr>
          <a:xfrm>
            <a:off x="3052088" y="20698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g35565383f02_0_522"/>
          <p:cNvCxnSpPr/>
          <p:nvPr/>
        </p:nvCxnSpPr>
        <p:spPr>
          <a:xfrm>
            <a:off x="3044613" y="24922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2" name="Google Shape;352;g35565383f02_0_522"/>
          <p:cNvSpPr txBox="1"/>
          <p:nvPr/>
        </p:nvSpPr>
        <p:spPr>
          <a:xfrm>
            <a:off x="445525" y="16282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inA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353" name="Google Shape;353;g35565383f02_0_522"/>
          <p:cNvCxnSpPr/>
          <p:nvPr/>
        </p:nvCxnSpPr>
        <p:spPr>
          <a:xfrm>
            <a:off x="3044613" y="2914600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4" name="Google Shape;354;g35565383f02_0_522"/>
          <p:cNvSpPr txBox="1"/>
          <p:nvPr/>
        </p:nvSpPr>
        <p:spPr>
          <a:xfrm>
            <a:off x="445525" y="20506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5" name="Google Shape;355;g35565383f02_0_522"/>
          <p:cNvSpPr txBox="1"/>
          <p:nvPr/>
        </p:nvSpPr>
        <p:spPr>
          <a:xfrm>
            <a:off x="445525" y="24730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6" name="Google Shape;356;g35565383f02_0_522"/>
          <p:cNvSpPr txBox="1"/>
          <p:nvPr/>
        </p:nvSpPr>
        <p:spPr>
          <a:xfrm>
            <a:off x="445525" y="28954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7" name="Google Shape;357;g35565383f02_0_522"/>
          <p:cNvSpPr txBox="1"/>
          <p:nvPr/>
        </p:nvSpPr>
        <p:spPr>
          <a:xfrm>
            <a:off x="3621125" y="18394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8" name="Google Shape;358;g35565383f02_0_522"/>
          <p:cNvSpPr txBox="1"/>
          <p:nvPr/>
        </p:nvSpPr>
        <p:spPr>
          <a:xfrm>
            <a:off x="3621125" y="22618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9" name="Google Shape;359;g35565383f02_0_522"/>
          <p:cNvSpPr txBox="1"/>
          <p:nvPr/>
        </p:nvSpPr>
        <p:spPr>
          <a:xfrm>
            <a:off x="3621125" y="26842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60" name="Google Shape;360;g35565383f02_0_522"/>
          <p:cNvSpPr/>
          <p:nvPr/>
        </p:nvSpPr>
        <p:spPr>
          <a:xfrm>
            <a:off x="1568925" y="4037375"/>
            <a:ext cx="1475700" cy="1872600"/>
          </a:xfrm>
          <a:prstGeom prst="rect">
            <a:avLst/>
          </a:prstGeom>
          <a:solidFill>
            <a:srgbClr val="F9CB9C"/>
          </a:solidFill>
          <a:ln w="1905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1" name="Google Shape;361;g35565383f02_0_522"/>
          <p:cNvCxnSpPr/>
          <p:nvPr/>
        </p:nvCxnSpPr>
        <p:spPr>
          <a:xfrm>
            <a:off x="1064950" y="43396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Google Shape;362;g35565383f02_0_522"/>
          <p:cNvCxnSpPr/>
          <p:nvPr/>
        </p:nvCxnSpPr>
        <p:spPr>
          <a:xfrm>
            <a:off x="1069438" y="47620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g35565383f02_0_522"/>
          <p:cNvCxnSpPr/>
          <p:nvPr/>
        </p:nvCxnSpPr>
        <p:spPr>
          <a:xfrm>
            <a:off x="1061963" y="51844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g35565383f02_0_522"/>
          <p:cNvCxnSpPr/>
          <p:nvPr/>
        </p:nvCxnSpPr>
        <p:spPr>
          <a:xfrm>
            <a:off x="1066450" y="56068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" name="Google Shape;365;g35565383f02_0_522"/>
          <p:cNvCxnSpPr/>
          <p:nvPr/>
        </p:nvCxnSpPr>
        <p:spPr>
          <a:xfrm>
            <a:off x="3052088" y="45508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g35565383f02_0_522"/>
          <p:cNvCxnSpPr/>
          <p:nvPr/>
        </p:nvCxnSpPr>
        <p:spPr>
          <a:xfrm>
            <a:off x="3044613" y="49732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7" name="Google Shape;367;g35565383f02_0_522"/>
          <p:cNvSpPr txBox="1"/>
          <p:nvPr/>
        </p:nvSpPr>
        <p:spPr>
          <a:xfrm>
            <a:off x="445525" y="41092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368" name="Google Shape;368;g35565383f02_0_522"/>
          <p:cNvCxnSpPr/>
          <p:nvPr/>
        </p:nvCxnSpPr>
        <p:spPr>
          <a:xfrm>
            <a:off x="3044613" y="5395625"/>
            <a:ext cx="4920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9" name="Google Shape;369;g35565383f02_0_522"/>
          <p:cNvSpPr txBox="1"/>
          <p:nvPr/>
        </p:nvSpPr>
        <p:spPr>
          <a:xfrm>
            <a:off x="445525" y="45316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0" name="Google Shape;370;g35565383f02_0_522"/>
          <p:cNvSpPr txBox="1"/>
          <p:nvPr/>
        </p:nvSpPr>
        <p:spPr>
          <a:xfrm>
            <a:off x="445525" y="49540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1" name="Google Shape;371;g35565383f02_0_522"/>
          <p:cNvSpPr txBox="1"/>
          <p:nvPr/>
        </p:nvSpPr>
        <p:spPr>
          <a:xfrm>
            <a:off x="445525" y="5376425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in4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2" name="Google Shape;372;g35565383f02_0_522"/>
          <p:cNvSpPr txBox="1"/>
          <p:nvPr/>
        </p:nvSpPr>
        <p:spPr>
          <a:xfrm>
            <a:off x="3621125" y="43204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3" name="Google Shape;373;g35565383f02_0_522"/>
          <p:cNvSpPr txBox="1"/>
          <p:nvPr/>
        </p:nvSpPr>
        <p:spPr>
          <a:xfrm>
            <a:off x="3621125" y="47428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4" name="Google Shape;374;g35565383f02_0_522"/>
          <p:cNvSpPr txBox="1"/>
          <p:nvPr/>
        </p:nvSpPr>
        <p:spPr>
          <a:xfrm>
            <a:off x="3621125" y="51652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5" name="Google Shape;375;g35565383f02_0_522"/>
          <p:cNvSpPr txBox="1"/>
          <p:nvPr/>
        </p:nvSpPr>
        <p:spPr>
          <a:xfrm>
            <a:off x="1642450" y="2030950"/>
            <a:ext cx="131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old module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76" name="Google Shape;376;g35565383f02_0_522"/>
          <p:cNvSpPr txBox="1"/>
          <p:nvPr/>
        </p:nvSpPr>
        <p:spPr>
          <a:xfrm>
            <a:off x="1671850" y="4511975"/>
            <a:ext cx="1254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module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77" name="Google Shape;377;g35565383f02_0_522"/>
          <p:cNvSpPr/>
          <p:nvPr/>
        </p:nvSpPr>
        <p:spPr>
          <a:xfrm>
            <a:off x="5266265" y="18394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378" name="Google Shape;378;g35565383f02_0_522"/>
          <p:cNvSpPr/>
          <p:nvPr/>
        </p:nvSpPr>
        <p:spPr>
          <a:xfrm>
            <a:off x="4758853" y="23668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379" name="Google Shape;379;g35565383f02_0_522"/>
          <p:cNvSpPr/>
          <p:nvPr/>
        </p:nvSpPr>
        <p:spPr>
          <a:xfrm>
            <a:off x="5792065" y="236680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380" name="Google Shape;380;g35565383f02_0_522"/>
          <p:cNvSpPr/>
          <p:nvPr/>
        </p:nvSpPr>
        <p:spPr>
          <a:xfrm>
            <a:off x="5538315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381" name="Google Shape;381;g35565383f02_0_522"/>
          <p:cNvSpPr/>
          <p:nvPr/>
        </p:nvSpPr>
        <p:spPr>
          <a:xfrm>
            <a:off x="6059815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</a:t>
            </a:r>
            <a:endParaRPr/>
          </a:p>
        </p:txBody>
      </p:sp>
      <p:cxnSp>
        <p:nvCxnSpPr>
          <p:cNvPr id="382" name="Google Shape;382;g35565383f02_0_522"/>
          <p:cNvCxnSpPr>
            <a:stCxn id="377" idx="3"/>
            <a:endCxn id="378" idx="0"/>
          </p:cNvCxnSpPr>
          <p:nvPr/>
        </p:nvCxnSpPr>
        <p:spPr>
          <a:xfrm flipH="1">
            <a:off x="4987320" y="222964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3" name="Google Shape;383;g35565383f02_0_522"/>
          <p:cNvCxnSpPr>
            <a:stCxn id="377" idx="5"/>
            <a:endCxn id="379" idx="0"/>
          </p:cNvCxnSpPr>
          <p:nvPr/>
        </p:nvCxnSpPr>
        <p:spPr>
          <a:xfrm>
            <a:off x="5656510" y="222964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4" name="Google Shape;384;g35565383f02_0_522"/>
          <p:cNvCxnSpPr>
            <a:stCxn id="379" idx="3"/>
            <a:endCxn id="380" idx="0"/>
          </p:cNvCxnSpPr>
          <p:nvPr/>
        </p:nvCxnSpPr>
        <p:spPr>
          <a:xfrm flipH="1">
            <a:off x="5766920" y="275704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" name="Google Shape;385;g35565383f02_0_522"/>
          <p:cNvCxnSpPr>
            <a:stCxn id="379" idx="5"/>
            <a:endCxn id="381" idx="0"/>
          </p:cNvCxnSpPr>
          <p:nvPr/>
        </p:nvCxnSpPr>
        <p:spPr>
          <a:xfrm>
            <a:off x="6182310" y="275704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6" name="Google Shape;386;g35565383f02_0_522"/>
          <p:cNvSpPr/>
          <p:nvPr/>
        </p:nvSpPr>
        <p:spPr>
          <a:xfrm>
            <a:off x="4511040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387" name="Google Shape;387;g35565383f02_0_522"/>
          <p:cNvSpPr/>
          <p:nvPr/>
        </p:nvSpPr>
        <p:spPr>
          <a:xfrm>
            <a:off x="5032540" y="2933750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inB</a:t>
            </a:r>
            <a:endParaRPr/>
          </a:p>
        </p:txBody>
      </p:sp>
      <p:cxnSp>
        <p:nvCxnSpPr>
          <p:cNvPr id="388" name="Google Shape;388;g35565383f02_0_522"/>
          <p:cNvCxnSpPr>
            <a:stCxn id="378" idx="3"/>
            <a:endCxn id="386" idx="0"/>
          </p:cNvCxnSpPr>
          <p:nvPr/>
        </p:nvCxnSpPr>
        <p:spPr>
          <a:xfrm flipH="1">
            <a:off x="4739708" y="2757045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9" name="Google Shape;389;g35565383f02_0_522"/>
          <p:cNvCxnSpPr>
            <a:stCxn id="378" idx="5"/>
            <a:endCxn id="387" idx="0"/>
          </p:cNvCxnSpPr>
          <p:nvPr/>
        </p:nvCxnSpPr>
        <p:spPr>
          <a:xfrm>
            <a:off x="5149097" y="2757045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0" name="Google Shape;390;g35565383f02_0_522"/>
          <p:cNvSpPr txBox="1"/>
          <p:nvPr/>
        </p:nvSpPr>
        <p:spPr>
          <a:xfrm>
            <a:off x="5121628" y="137160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91" name="Google Shape;391;g35565383f02_0_522"/>
          <p:cNvSpPr/>
          <p:nvPr/>
        </p:nvSpPr>
        <p:spPr>
          <a:xfrm>
            <a:off x="5266265" y="43082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392" name="Google Shape;392;g35565383f02_0_522"/>
          <p:cNvSpPr/>
          <p:nvPr/>
        </p:nvSpPr>
        <p:spPr>
          <a:xfrm>
            <a:off x="4758853" y="48356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393" name="Google Shape;393;g35565383f02_0_522"/>
          <p:cNvSpPr/>
          <p:nvPr/>
        </p:nvSpPr>
        <p:spPr>
          <a:xfrm>
            <a:off x="5792065" y="48356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394" name="Google Shape;394;g35565383f02_0_522"/>
          <p:cNvSpPr/>
          <p:nvPr/>
        </p:nvSpPr>
        <p:spPr>
          <a:xfrm>
            <a:off x="5538315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395" name="Google Shape;395;g35565383f02_0_522"/>
          <p:cNvSpPr/>
          <p:nvPr/>
        </p:nvSpPr>
        <p:spPr>
          <a:xfrm>
            <a:off x="6059815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in3</a:t>
            </a:r>
            <a:endParaRPr/>
          </a:p>
        </p:txBody>
      </p:sp>
      <p:cxnSp>
        <p:nvCxnSpPr>
          <p:cNvPr id="396" name="Google Shape;396;g35565383f02_0_522"/>
          <p:cNvCxnSpPr>
            <a:stCxn id="391" idx="3"/>
            <a:endCxn id="392" idx="0"/>
          </p:cNvCxnSpPr>
          <p:nvPr/>
        </p:nvCxnSpPr>
        <p:spPr>
          <a:xfrm flipH="1">
            <a:off x="4987320" y="469852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" name="Google Shape;397;g35565383f02_0_522"/>
          <p:cNvCxnSpPr>
            <a:stCxn id="391" idx="5"/>
            <a:endCxn id="393" idx="0"/>
          </p:cNvCxnSpPr>
          <p:nvPr/>
        </p:nvCxnSpPr>
        <p:spPr>
          <a:xfrm>
            <a:off x="5656510" y="469852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g35565383f02_0_522"/>
          <p:cNvCxnSpPr>
            <a:stCxn id="393" idx="3"/>
            <a:endCxn id="394" idx="0"/>
          </p:cNvCxnSpPr>
          <p:nvPr/>
        </p:nvCxnSpPr>
        <p:spPr>
          <a:xfrm flipH="1">
            <a:off x="5766920" y="522592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" name="Google Shape;399;g35565383f02_0_522"/>
          <p:cNvCxnSpPr>
            <a:stCxn id="393" idx="5"/>
            <a:endCxn id="395" idx="0"/>
          </p:cNvCxnSpPr>
          <p:nvPr/>
        </p:nvCxnSpPr>
        <p:spPr>
          <a:xfrm>
            <a:off x="6182310" y="522592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0" name="Google Shape;400;g35565383f02_0_522"/>
          <p:cNvSpPr/>
          <p:nvPr/>
        </p:nvSpPr>
        <p:spPr>
          <a:xfrm>
            <a:off x="4511040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401" name="Google Shape;401;g35565383f02_0_522"/>
          <p:cNvSpPr/>
          <p:nvPr/>
        </p:nvSpPr>
        <p:spPr>
          <a:xfrm>
            <a:off x="5032540" y="54026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in2</a:t>
            </a:r>
            <a:endParaRPr/>
          </a:p>
        </p:txBody>
      </p:sp>
      <p:cxnSp>
        <p:nvCxnSpPr>
          <p:cNvPr id="402" name="Google Shape;402;g35565383f02_0_522"/>
          <p:cNvCxnSpPr>
            <a:stCxn id="392" idx="3"/>
            <a:endCxn id="400" idx="0"/>
          </p:cNvCxnSpPr>
          <p:nvPr/>
        </p:nvCxnSpPr>
        <p:spPr>
          <a:xfrm flipH="1">
            <a:off x="4739708" y="5225925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3" name="Google Shape;403;g35565383f02_0_522"/>
          <p:cNvCxnSpPr>
            <a:stCxn id="392" idx="5"/>
            <a:endCxn id="401" idx="0"/>
          </p:cNvCxnSpPr>
          <p:nvPr/>
        </p:nvCxnSpPr>
        <p:spPr>
          <a:xfrm>
            <a:off x="5149097" y="5225925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4" name="Google Shape;404;g35565383f02_0_522"/>
          <p:cNvSpPr txBox="1"/>
          <p:nvPr/>
        </p:nvSpPr>
        <p:spPr>
          <a:xfrm>
            <a:off x="5121628" y="384048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out2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405" name="Google Shape;405;g35565383f02_0_522"/>
          <p:cNvGraphicFramePr/>
          <p:nvPr/>
        </p:nvGraphicFramePr>
        <p:xfrm>
          <a:off x="6930850" y="2954350"/>
          <a:ext cx="2135850" cy="162405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68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outA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inA, inB,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inC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outB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inA, inB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outC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inA,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inC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6" name="Google Shape;406;g35565383f02_0_522"/>
          <p:cNvGraphicFramePr/>
          <p:nvPr/>
        </p:nvGraphicFramePr>
        <p:xfrm>
          <a:off x="9709125" y="2952550"/>
          <a:ext cx="2139700" cy="162765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72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out1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in1, in2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out2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in1, in2,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in3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out3</a:t>
                      </a:r>
                      <a:endParaRPr sz="1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in1,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in3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07" name="Google Shape;407;g35565383f02_0_5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6760" y="1556362"/>
            <a:ext cx="2210481" cy="72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" name="Google Shape;408;g35565383f02_0_522"/>
          <p:cNvCxnSpPr/>
          <p:nvPr/>
        </p:nvCxnSpPr>
        <p:spPr>
          <a:xfrm>
            <a:off x="9066400" y="3249075"/>
            <a:ext cx="643800" cy="55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9" name="Google Shape;409;g35565383f02_0_522"/>
          <p:cNvCxnSpPr/>
          <p:nvPr/>
        </p:nvCxnSpPr>
        <p:spPr>
          <a:xfrm rot="10800000" flipH="1">
            <a:off x="9066388" y="4319525"/>
            <a:ext cx="645000" cy="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0" name="Google Shape;410;g35565383f02_0_522"/>
          <p:cNvSpPr txBox="1"/>
          <p:nvPr/>
        </p:nvSpPr>
        <p:spPr>
          <a:xfrm>
            <a:off x="7888300" y="23645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inC⭢in3</a:t>
            </a:r>
            <a:endParaRPr/>
          </a:p>
        </p:txBody>
      </p:sp>
      <p:cxnSp>
        <p:nvCxnSpPr>
          <p:cNvPr id="411" name="Google Shape;411;g35565383f02_0_522"/>
          <p:cNvCxnSpPr/>
          <p:nvPr/>
        </p:nvCxnSpPr>
        <p:spPr>
          <a:xfrm rot="10800000" flipH="1">
            <a:off x="9062550" y="3248175"/>
            <a:ext cx="645300" cy="5349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565383f02_0_65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3-Algorithm (AST)</a:t>
            </a:r>
            <a:endParaRPr/>
          </a:p>
        </p:txBody>
      </p:sp>
      <p:sp>
        <p:nvSpPr>
          <p:cNvPr id="418" name="Google Shape;418;g35565383f02_0_65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19" name="Google Shape;419;g35565383f02_0_652"/>
          <p:cNvSpPr/>
          <p:nvPr/>
        </p:nvSpPr>
        <p:spPr>
          <a:xfrm>
            <a:off x="5862990" y="1984488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20" name="Google Shape;420;g35565383f02_0_652"/>
          <p:cNvSpPr/>
          <p:nvPr/>
        </p:nvSpPr>
        <p:spPr>
          <a:xfrm>
            <a:off x="5355578" y="2511888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inB</a:t>
            </a:r>
            <a:endParaRPr/>
          </a:p>
        </p:txBody>
      </p:sp>
      <p:sp>
        <p:nvSpPr>
          <p:cNvPr id="421" name="Google Shape;421;g35565383f02_0_652"/>
          <p:cNvSpPr/>
          <p:nvPr/>
        </p:nvSpPr>
        <p:spPr>
          <a:xfrm>
            <a:off x="6388790" y="2511888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422" name="Google Shape;422;g35565383f02_0_652"/>
          <p:cNvSpPr/>
          <p:nvPr/>
        </p:nvSpPr>
        <p:spPr>
          <a:xfrm>
            <a:off x="6135040" y="3078838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423" name="Google Shape;423;g35565383f02_0_652"/>
          <p:cNvSpPr/>
          <p:nvPr/>
        </p:nvSpPr>
        <p:spPr>
          <a:xfrm>
            <a:off x="6656540" y="3078838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inB</a:t>
            </a:r>
            <a:endParaRPr/>
          </a:p>
        </p:txBody>
      </p:sp>
      <p:cxnSp>
        <p:nvCxnSpPr>
          <p:cNvPr id="424" name="Google Shape;424;g35565383f02_0_652"/>
          <p:cNvCxnSpPr>
            <a:stCxn id="419" idx="3"/>
            <a:endCxn id="420" idx="0"/>
          </p:cNvCxnSpPr>
          <p:nvPr/>
        </p:nvCxnSpPr>
        <p:spPr>
          <a:xfrm flipH="1">
            <a:off x="5584045" y="2374732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" name="Google Shape;425;g35565383f02_0_652"/>
          <p:cNvCxnSpPr>
            <a:stCxn id="419" idx="5"/>
            <a:endCxn id="421" idx="0"/>
          </p:cNvCxnSpPr>
          <p:nvPr/>
        </p:nvCxnSpPr>
        <p:spPr>
          <a:xfrm>
            <a:off x="6253235" y="2374732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g35565383f02_0_652"/>
          <p:cNvCxnSpPr>
            <a:stCxn id="421" idx="3"/>
            <a:endCxn id="422" idx="0"/>
          </p:cNvCxnSpPr>
          <p:nvPr/>
        </p:nvCxnSpPr>
        <p:spPr>
          <a:xfrm flipH="1">
            <a:off x="6363645" y="2902132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" name="Google Shape;427;g35565383f02_0_652"/>
          <p:cNvCxnSpPr>
            <a:stCxn id="421" idx="5"/>
            <a:endCxn id="423" idx="0"/>
          </p:cNvCxnSpPr>
          <p:nvPr/>
        </p:nvCxnSpPr>
        <p:spPr>
          <a:xfrm>
            <a:off x="6779035" y="2902132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8" name="Google Shape;428;g35565383f02_0_652"/>
          <p:cNvSpPr/>
          <p:nvPr/>
        </p:nvSpPr>
        <p:spPr>
          <a:xfrm>
            <a:off x="8124890" y="198377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429" name="Google Shape;429;g35565383f02_0_652"/>
          <p:cNvSpPr/>
          <p:nvPr/>
        </p:nvSpPr>
        <p:spPr>
          <a:xfrm>
            <a:off x="7617478" y="251117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30" name="Google Shape;430;g35565383f02_0_652"/>
          <p:cNvSpPr/>
          <p:nvPr/>
        </p:nvSpPr>
        <p:spPr>
          <a:xfrm>
            <a:off x="8650690" y="251117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31" name="Google Shape;431;g35565383f02_0_652"/>
          <p:cNvSpPr/>
          <p:nvPr/>
        </p:nvSpPr>
        <p:spPr>
          <a:xfrm>
            <a:off x="8396940" y="307812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432" name="Google Shape;432;g35565383f02_0_652"/>
          <p:cNvSpPr/>
          <p:nvPr/>
        </p:nvSpPr>
        <p:spPr>
          <a:xfrm>
            <a:off x="8918440" y="307812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</a:t>
            </a:r>
            <a:endParaRPr/>
          </a:p>
        </p:txBody>
      </p:sp>
      <p:cxnSp>
        <p:nvCxnSpPr>
          <p:cNvPr id="433" name="Google Shape;433;g35565383f02_0_652"/>
          <p:cNvCxnSpPr>
            <a:stCxn id="428" idx="3"/>
            <a:endCxn id="429" idx="0"/>
          </p:cNvCxnSpPr>
          <p:nvPr/>
        </p:nvCxnSpPr>
        <p:spPr>
          <a:xfrm flipH="1">
            <a:off x="7845945" y="2374020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4" name="Google Shape;434;g35565383f02_0_652"/>
          <p:cNvCxnSpPr>
            <a:stCxn id="428" idx="5"/>
            <a:endCxn id="430" idx="0"/>
          </p:cNvCxnSpPr>
          <p:nvPr/>
        </p:nvCxnSpPr>
        <p:spPr>
          <a:xfrm>
            <a:off x="8515135" y="2374020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g35565383f02_0_652"/>
          <p:cNvCxnSpPr>
            <a:stCxn id="430" idx="3"/>
            <a:endCxn id="431" idx="0"/>
          </p:cNvCxnSpPr>
          <p:nvPr/>
        </p:nvCxnSpPr>
        <p:spPr>
          <a:xfrm flipH="1">
            <a:off x="8625545" y="2901420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g35565383f02_0_652"/>
          <p:cNvCxnSpPr>
            <a:stCxn id="430" idx="5"/>
            <a:endCxn id="432" idx="0"/>
          </p:cNvCxnSpPr>
          <p:nvPr/>
        </p:nvCxnSpPr>
        <p:spPr>
          <a:xfrm>
            <a:off x="9040935" y="2901420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7" name="Google Shape;437;g35565383f02_0_652"/>
          <p:cNvSpPr/>
          <p:nvPr/>
        </p:nvSpPr>
        <p:spPr>
          <a:xfrm>
            <a:off x="7617465" y="307812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cxnSp>
        <p:nvCxnSpPr>
          <p:cNvPr id="438" name="Google Shape;438;g35565383f02_0_652"/>
          <p:cNvCxnSpPr>
            <a:stCxn id="429" idx="4"/>
            <a:endCxn id="437" idx="0"/>
          </p:cNvCxnSpPr>
          <p:nvPr/>
        </p:nvCxnSpPr>
        <p:spPr>
          <a:xfrm>
            <a:off x="7846078" y="2968375"/>
            <a:ext cx="0" cy="10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9" name="Google Shape;439;g35565383f02_0_652"/>
          <p:cNvSpPr txBox="1"/>
          <p:nvPr/>
        </p:nvSpPr>
        <p:spPr>
          <a:xfrm>
            <a:off x="5718353" y="152657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0" name="Google Shape;440;g35565383f02_0_652"/>
          <p:cNvSpPr txBox="1"/>
          <p:nvPr/>
        </p:nvSpPr>
        <p:spPr>
          <a:xfrm>
            <a:off x="7980253" y="152657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1" name="Google Shape;441;g35565383f02_0_652"/>
          <p:cNvSpPr/>
          <p:nvPr/>
        </p:nvSpPr>
        <p:spPr>
          <a:xfrm>
            <a:off x="3443315" y="44703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42" name="Google Shape;442;g35565383f02_0_652"/>
          <p:cNvSpPr/>
          <p:nvPr/>
        </p:nvSpPr>
        <p:spPr>
          <a:xfrm>
            <a:off x="2935903" y="49977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in2</a:t>
            </a:r>
            <a:endParaRPr/>
          </a:p>
        </p:txBody>
      </p:sp>
      <p:sp>
        <p:nvSpPr>
          <p:cNvPr id="443" name="Google Shape;443;g35565383f02_0_652"/>
          <p:cNvSpPr/>
          <p:nvPr/>
        </p:nvSpPr>
        <p:spPr>
          <a:xfrm>
            <a:off x="3969115" y="49977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444" name="Google Shape;444;g35565383f02_0_652"/>
          <p:cNvSpPr/>
          <p:nvPr/>
        </p:nvSpPr>
        <p:spPr>
          <a:xfrm>
            <a:off x="3715365" y="55647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445" name="Google Shape;445;g35565383f02_0_652"/>
          <p:cNvSpPr/>
          <p:nvPr/>
        </p:nvSpPr>
        <p:spPr>
          <a:xfrm>
            <a:off x="4236865" y="55647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in2</a:t>
            </a:r>
            <a:endParaRPr/>
          </a:p>
        </p:txBody>
      </p:sp>
      <p:cxnSp>
        <p:nvCxnSpPr>
          <p:cNvPr id="446" name="Google Shape;446;g35565383f02_0_652"/>
          <p:cNvCxnSpPr>
            <a:stCxn id="441" idx="3"/>
            <a:endCxn id="442" idx="0"/>
          </p:cNvCxnSpPr>
          <p:nvPr/>
        </p:nvCxnSpPr>
        <p:spPr>
          <a:xfrm flipH="1">
            <a:off x="3164370" y="486062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7" name="Google Shape;447;g35565383f02_0_652"/>
          <p:cNvCxnSpPr>
            <a:stCxn id="441" idx="5"/>
            <a:endCxn id="443" idx="0"/>
          </p:cNvCxnSpPr>
          <p:nvPr/>
        </p:nvCxnSpPr>
        <p:spPr>
          <a:xfrm>
            <a:off x="3833560" y="486062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" name="Google Shape;448;g35565383f02_0_652"/>
          <p:cNvCxnSpPr>
            <a:stCxn id="443" idx="3"/>
            <a:endCxn id="444" idx="0"/>
          </p:cNvCxnSpPr>
          <p:nvPr/>
        </p:nvCxnSpPr>
        <p:spPr>
          <a:xfrm flipH="1">
            <a:off x="3943970" y="538802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" name="Google Shape;449;g35565383f02_0_652"/>
          <p:cNvCxnSpPr>
            <a:stCxn id="443" idx="5"/>
            <a:endCxn id="445" idx="0"/>
          </p:cNvCxnSpPr>
          <p:nvPr/>
        </p:nvCxnSpPr>
        <p:spPr>
          <a:xfrm>
            <a:off x="4359360" y="538802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0" name="Google Shape;450;g35565383f02_0_652"/>
          <p:cNvSpPr/>
          <p:nvPr/>
        </p:nvSpPr>
        <p:spPr>
          <a:xfrm>
            <a:off x="8124890" y="4452655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451" name="Google Shape;451;g35565383f02_0_652"/>
          <p:cNvSpPr/>
          <p:nvPr/>
        </p:nvSpPr>
        <p:spPr>
          <a:xfrm>
            <a:off x="7617478" y="4980055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52" name="Google Shape;452;g35565383f02_0_652"/>
          <p:cNvSpPr/>
          <p:nvPr/>
        </p:nvSpPr>
        <p:spPr>
          <a:xfrm>
            <a:off x="8650690" y="4980055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53" name="Google Shape;453;g35565383f02_0_652"/>
          <p:cNvSpPr/>
          <p:nvPr/>
        </p:nvSpPr>
        <p:spPr>
          <a:xfrm>
            <a:off x="8396940" y="5547005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in2</a:t>
            </a:r>
            <a:endParaRPr/>
          </a:p>
        </p:txBody>
      </p:sp>
      <p:sp>
        <p:nvSpPr>
          <p:cNvPr id="454" name="Google Shape;454;g35565383f02_0_652"/>
          <p:cNvSpPr/>
          <p:nvPr/>
        </p:nvSpPr>
        <p:spPr>
          <a:xfrm>
            <a:off x="8918440" y="5547005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in3</a:t>
            </a:r>
            <a:endParaRPr/>
          </a:p>
        </p:txBody>
      </p:sp>
      <p:cxnSp>
        <p:nvCxnSpPr>
          <p:cNvPr id="455" name="Google Shape;455;g35565383f02_0_652"/>
          <p:cNvCxnSpPr>
            <a:stCxn id="450" idx="3"/>
            <a:endCxn id="451" idx="0"/>
          </p:cNvCxnSpPr>
          <p:nvPr/>
        </p:nvCxnSpPr>
        <p:spPr>
          <a:xfrm flipH="1">
            <a:off x="7845945" y="4842900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" name="Google Shape;456;g35565383f02_0_652"/>
          <p:cNvCxnSpPr>
            <a:stCxn id="450" idx="5"/>
            <a:endCxn id="452" idx="0"/>
          </p:cNvCxnSpPr>
          <p:nvPr/>
        </p:nvCxnSpPr>
        <p:spPr>
          <a:xfrm>
            <a:off x="8515135" y="4842900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" name="Google Shape;457;g35565383f02_0_652"/>
          <p:cNvCxnSpPr>
            <a:stCxn id="452" idx="3"/>
            <a:endCxn id="453" idx="0"/>
          </p:cNvCxnSpPr>
          <p:nvPr/>
        </p:nvCxnSpPr>
        <p:spPr>
          <a:xfrm flipH="1">
            <a:off x="8625545" y="5370300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g35565383f02_0_652"/>
          <p:cNvCxnSpPr>
            <a:stCxn id="452" idx="5"/>
            <a:endCxn id="454" idx="0"/>
          </p:cNvCxnSpPr>
          <p:nvPr/>
        </p:nvCxnSpPr>
        <p:spPr>
          <a:xfrm>
            <a:off x="9040935" y="5370300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9" name="Google Shape;459;g35565383f02_0_652"/>
          <p:cNvSpPr/>
          <p:nvPr/>
        </p:nvSpPr>
        <p:spPr>
          <a:xfrm>
            <a:off x="7617465" y="5547005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cxnSp>
        <p:nvCxnSpPr>
          <p:cNvPr id="460" name="Google Shape;460;g35565383f02_0_652"/>
          <p:cNvCxnSpPr>
            <a:stCxn id="451" idx="4"/>
            <a:endCxn id="459" idx="0"/>
          </p:cNvCxnSpPr>
          <p:nvPr/>
        </p:nvCxnSpPr>
        <p:spPr>
          <a:xfrm>
            <a:off x="7846078" y="5437255"/>
            <a:ext cx="0" cy="10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1" name="Google Shape;461;g35565383f02_0_652"/>
          <p:cNvSpPr txBox="1"/>
          <p:nvPr/>
        </p:nvSpPr>
        <p:spPr>
          <a:xfrm>
            <a:off x="3298678" y="4012468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62" name="Google Shape;462;g35565383f02_0_652"/>
          <p:cNvSpPr txBox="1"/>
          <p:nvPr/>
        </p:nvSpPr>
        <p:spPr>
          <a:xfrm>
            <a:off x="7980253" y="399545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63" name="Google Shape;463;g35565383f02_0_652"/>
          <p:cNvSpPr/>
          <p:nvPr/>
        </p:nvSpPr>
        <p:spPr>
          <a:xfrm>
            <a:off x="3488390" y="199437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464" name="Google Shape;464;g35565383f02_0_652"/>
          <p:cNvSpPr/>
          <p:nvPr/>
        </p:nvSpPr>
        <p:spPr>
          <a:xfrm>
            <a:off x="2980978" y="252177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465" name="Google Shape;465;g35565383f02_0_652"/>
          <p:cNvSpPr/>
          <p:nvPr/>
        </p:nvSpPr>
        <p:spPr>
          <a:xfrm>
            <a:off x="4014190" y="252177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66" name="Google Shape;466;g35565383f02_0_652"/>
          <p:cNvSpPr/>
          <p:nvPr/>
        </p:nvSpPr>
        <p:spPr>
          <a:xfrm>
            <a:off x="3760440" y="308872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467" name="Google Shape;467;g35565383f02_0_652"/>
          <p:cNvSpPr/>
          <p:nvPr/>
        </p:nvSpPr>
        <p:spPr>
          <a:xfrm>
            <a:off x="4281940" y="308872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</a:t>
            </a:r>
            <a:endParaRPr/>
          </a:p>
        </p:txBody>
      </p:sp>
      <p:cxnSp>
        <p:nvCxnSpPr>
          <p:cNvPr id="468" name="Google Shape;468;g35565383f02_0_652"/>
          <p:cNvCxnSpPr>
            <a:stCxn id="463" idx="3"/>
            <a:endCxn id="464" idx="0"/>
          </p:cNvCxnSpPr>
          <p:nvPr/>
        </p:nvCxnSpPr>
        <p:spPr>
          <a:xfrm flipH="1">
            <a:off x="3209445" y="2384620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9" name="Google Shape;469;g35565383f02_0_652"/>
          <p:cNvCxnSpPr>
            <a:stCxn id="463" idx="5"/>
            <a:endCxn id="465" idx="0"/>
          </p:cNvCxnSpPr>
          <p:nvPr/>
        </p:nvCxnSpPr>
        <p:spPr>
          <a:xfrm>
            <a:off x="3878635" y="2384620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0" name="Google Shape;470;g35565383f02_0_652"/>
          <p:cNvCxnSpPr>
            <a:stCxn id="465" idx="3"/>
            <a:endCxn id="466" idx="0"/>
          </p:cNvCxnSpPr>
          <p:nvPr/>
        </p:nvCxnSpPr>
        <p:spPr>
          <a:xfrm flipH="1">
            <a:off x="3989045" y="2912020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1" name="Google Shape;471;g35565383f02_0_652"/>
          <p:cNvCxnSpPr>
            <a:stCxn id="465" idx="5"/>
            <a:endCxn id="467" idx="0"/>
          </p:cNvCxnSpPr>
          <p:nvPr/>
        </p:nvCxnSpPr>
        <p:spPr>
          <a:xfrm>
            <a:off x="4404435" y="2912020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2" name="Google Shape;472;g35565383f02_0_652"/>
          <p:cNvSpPr/>
          <p:nvPr/>
        </p:nvSpPr>
        <p:spPr>
          <a:xfrm>
            <a:off x="2733165" y="308872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</a:t>
            </a:r>
            <a:endParaRPr/>
          </a:p>
        </p:txBody>
      </p:sp>
      <p:sp>
        <p:nvSpPr>
          <p:cNvPr id="473" name="Google Shape;473;g35565383f02_0_652"/>
          <p:cNvSpPr/>
          <p:nvPr/>
        </p:nvSpPr>
        <p:spPr>
          <a:xfrm>
            <a:off x="3254665" y="3088725"/>
            <a:ext cx="457200" cy="457200"/>
          </a:xfrm>
          <a:prstGeom prst="ellipse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inB</a:t>
            </a:r>
            <a:endParaRPr/>
          </a:p>
        </p:txBody>
      </p:sp>
      <p:cxnSp>
        <p:nvCxnSpPr>
          <p:cNvPr id="474" name="Google Shape;474;g35565383f02_0_652"/>
          <p:cNvCxnSpPr>
            <a:stCxn id="464" idx="3"/>
            <a:endCxn id="472" idx="0"/>
          </p:cNvCxnSpPr>
          <p:nvPr/>
        </p:nvCxnSpPr>
        <p:spPr>
          <a:xfrm flipH="1">
            <a:off x="2961833" y="2912020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" name="Google Shape;475;g35565383f02_0_652"/>
          <p:cNvCxnSpPr>
            <a:stCxn id="464" idx="5"/>
            <a:endCxn id="473" idx="0"/>
          </p:cNvCxnSpPr>
          <p:nvPr/>
        </p:nvCxnSpPr>
        <p:spPr>
          <a:xfrm>
            <a:off x="3371222" y="2912020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6" name="Google Shape;476;g35565383f02_0_652"/>
          <p:cNvSpPr txBox="1"/>
          <p:nvPr/>
        </p:nvSpPr>
        <p:spPr>
          <a:xfrm>
            <a:off x="3343753" y="152657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7" name="Google Shape;477;g35565383f02_0_652"/>
          <p:cNvSpPr/>
          <p:nvPr/>
        </p:nvSpPr>
        <p:spPr>
          <a:xfrm>
            <a:off x="5933165" y="44604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478" name="Google Shape;478;g35565383f02_0_652"/>
          <p:cNvSpPr/>
          <p:nvPr/>
        </p:nvSpPr>
        <p:spPr>
          <a:xfrm>
            <a:off x="5425753" y="49878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sp>
        <p:nvSpPr>
          <p:cNvPr id="479" name="Google Shape;479;g35565383f02_0_652"/>
          <p:cNvSpPr/>
          <p:nvPr/>
        </p:nvSpPr>
        <p:spPr>
          <a:xfrm>
            <a:off x="6458965" y="498788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480" name="Google Shape;480;g35565383f02_0_652"/>
          <p:cNvSpPr/>
          <p:nvPr/>
        </p:nvSpPr>
        <p:spPr>
          <a:xfrm>
            <a:off x="6205215" y="55548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481" name="Google Shape;481;g35565383f02_0_652"/>
          <p:cNvSpPr/>
          <p:nvPr/>
        </p:nvSpPr>
        <p:spPr>
          <a:xfrm>
            <a:off x="6726715" y="55548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in3</a:t>
            </a:r>
            <a:endParaRPr/>
          </a:p>
        </p:txBody>
      </p:sp>
      <p:cxnSp>
        <p:nvCxnSpPr>
          <p:cNvPr id="482" name="Google Shape;482;g35565383f02_0_652"/>
          <p:cNvCxnSpPr>
            <a:stCxn id="477" idx="3"/>
            <a:endCxn id="478" idx="0"/>
          </p:cNvCxnSpPr>
          <p:nvPr/>
        </p:nvCxnSpPr>
        <p:spPr>
          <a:xfrm flipH="1">
            <a:off x="5654220" y="4850725"/>
            <a:ext cx="3459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3" name="Google Shape;483;g35565383f02_0_652"/>
          <p:cNvCxnSpPr>
            <a:stCxn id="477" idx="5"/>
            <a:endCxn id="479" idx="0"/>
          </p:cNvCxnSpPr>
          <p:nvPr/>
        </p:nvCxnSpPr>
        <p:spPr>
          <a:xfrm>
            <a:off x="6323410" y="4850725"/>
            <a:ext cx="364200" cy="1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4" name="Google Shape;484;g35565383f02_0_652"/>
          <p:cNvCxnSpPr>
            <a:stCxn id="479" idx="3"/>
            <a:endCxn id="480" idx="0"/>
          </p:cNvCxnSpPr>
          <p:nvPr/>
        </p:nvCxnSpPr>
        <p:spPr>
          <a:xfrm flipH="1">
            <a:off x="6433820" y="5378125"/>
            <a:ext cx="92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5" name="Google Shape;485;g35565383f02_0_652"/>
          <p:cNvCxnSpPr>
            <a:stCxn id="479" idx="5"/>
            <a:endCxn id="481" idx="0"/>
          </p:cNvCxnSpPr>
          <p:nvPr/>
        </p:nvCxnSpPr>
        <p:spPr>
          <a:xfrm>
            <a:off x="6849210" y="5378125"/>
            <a:ext cx="1062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6" name="Google Shape;486;g35565383f02_0_652"/>
          <p:cNvSpPr/>
          <p:nvPr/>
        </p:nvSpPr>
        <p:spPr>
          <a:xfrm>
            <a:off x="5177940" y="55548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in1</a:t>
            </a:r>
            <a:endParaRPr/>
          </a:p>
        </p:txBody>
      </p:sp>
      <p:sp>
        <p:nvSpPr>
          <p:cNvPr id="487" name="Google Shape;487;g35565383f02_0_652"/>
          <p:cNvSpPr/>
          <p:nvPr/>
        </p:nvSpPr>
        <p:spPr>
          <a:xfrm>
            <a:off x="5699440" y="5554830"/>
            <a:ext cx="457200" cy="457200"/>
          </a:xfrm>
          <a:prstGeom prst="ellipse">
            <a:avLst/>
          </a:prstGeom>
          <a:solidFill>
            <a:srgbClr val="F9CB9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in2</a:t>
            </a:r>
            <a:endParaRPr/>
          </a:p>
        </p:txBody>
      </p:sp>
      <p:cxnSp>
        <p:nvCxnSpPr>
          <p:cNvPr id="488" name="Google Shape;488;g35565383f02_0_652"/>
          <p:cNvCxnSpPr>
            <a:stCxn id="478" idx="3"/>
            <a:endCxn id="486" idx="0"/>
          </p:cNvCxnSpPr>
          <p:nvPr/>
        </p:nvCxnSpPr>
        <p:spPr>
          <a:xfrm flipH="1">
            <a:off x="5406608" y="5378125"/>
            <a:ext cx="861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Google Shape;489;g35565383f02_0_652"/>
          <p:cNvCxnSpPr>
            <a:stCxn id="478" idx="5"/>
            <a:endCxn id="487" idx="0"/>
          </p:cNvCxnSpPr>
          <p:nvPr/>
        </p:nvCxnSpPr>
        <p:spPr>
          <a:xfrm>
            <a:off x="5815997" y="5378125"/>
            <a:ext cx="111900" cy="1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0" name="Google Shape;490;g35565383f02_0_652"/>
          <p:cNvSpPr txBox="1"/>
          <p:nvPr/>
        </p:nvSpPr>
        <p:spPr>
          <a:xfrm>
            <a:off x="5788528" y="3992680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out2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491" name="Google Shape;491;g35565383f02_0_652"/>
          <p:cNvCxnSpPr>
            <a:endCxn id="461" idx="0"/>
          </p:cNvCxnSpPr>
          <p:nvPr/>
        </p:nvCxnSpPr>
        <p:spPr>
          <a:xfrm>
            <a:off x="3648928" y="3608968"/>
            <a:ext cx="1200" cy="403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g35565383f02_0_652"/>
          <p:cNvCxnSpPr>
            <a:endCxn id="490" idx="0"/>
          </p:cNvCxnSpPr>
          <p:nvPr/>
        </p:nvCxnSpPr>
        <p:spPr>
          <a:xfrm>
            <a:off x="3654778" y="3619180"/>
            <a:ext cx="2485200" cy="373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g35565383f02_0_652"/>
          <p:cNvCxnSpPr/>
          <p:nvPr/>
        </p:nvCxnSpPr>
        <p:spPr>
          <a:xfrm>
            <a:off x="3648878" y="3619843"/>
            <a:ext cx="46401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4" name="Google Shape;494;g35565383f02_0_652"/>
          <p:cNvCxnSpPr>
            <a:endCxn id="462" idx="0"/>
          </p:cNvCxnSpPr>
          <p:nvPr/>
        </p:nvCxnSpPr>
        <p:spPr>
          <a:xfrm>
            <a:off x="6137502" y="3613855"/>
            <a:ext cx="2194200" cy="381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5" name="Google Shape;495;g35565383f02_0_652"/>
          <p:cNvCxnSpPr>
            <a:endCxn id="462" idx="0"/>
          </p:cNvCxnSpPr>
          <p:nvPr/>
        </p:nvCxnSpPr>
        <p:spPr>
          <a:xfrm>
            <a:off x="8328403" y="3597955"/>
            <a:ext cx="3300" cy="397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" name="Google Shape;496;g35565383f02_0_652"/>
          <p:cNvCxnSpPr>
            <a:endCxn id="461" idx="0"/>
          </p:cNvCxnSpPr>
          <p:nvPr/>
        </p:nvCxnSpPr>
        <p:spPr>
          <a:xfrm flipH="1">
            <a:off x="3650128" y="3609568"/>
            <a:ext cx="2487300" cy="402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7" name="Google Shape;497;g35565383f02_0_652"/>
          <p:cNvSpPr txBox="1"/>
          <p:nvPr/>
        </p:nvSpPr>
        <p:spPr>
          <a:xfrm>
            <a:off x="55150" y="1154625"/>
            <a:ext cx="2487300" cy="923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AST</a:t>
            </a: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compare &amp; map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498" name="Google Shape;498;g35565383f02_0_652"/>
          <p:cNvSpPr txBox="1"/>
          <p:nvPr/>
        </p:nvSpPr>
        <p:spPr>
          <a:xfrm>
            <a:off x="9741325" y="3458150"/>
            <a:ext cx="1995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O(n!)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5565383f02_0_404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3-Algorithm (ROBDD)</a:t>
            </a:r>
            <a:endParaRPr/>
          </a:p>
        </p:txBody>
      </p:sp>
      <p:sp>
        <p:nvSpPr>
          <p:cNvPr id="505" name="Google Shape;505;g35565383f02_0_404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506" name="Google Shape;506;g35565383f02_0_404"/>
          <p:cNvSpPr/>
          <p:nvPr/>
        </p:nvSpPr>
        <p:spPr>
          <a:xfrm>
            <a:off x="1071575" y="1354675"/>
            <a:ext cx="4431900" cy="23166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old module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507" name="Google Shape;507;g35565383f02_0_4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675" y="2096000"/>
            <a:ext cx="3377550" cy="13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5565383f02_0_404"/>
          <p:cNvSpPr txBox="1"/>
          <p:nvPr/>
        </p:nvSpPr>
        <p:spPr>
          <a:xfrm>
            <a:off x="1005840" y="18288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09" name="Google Shape;509;g35565383f02_0_404"/>
          <p:cNvSpPr txBox="1"/>
          <p:nvPr/>
        </p:nvSpPr>
        <p:spPr>
          <a:xfrm>
            <a:off x="1005840" y="2359152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0" name="Google Shape;510;g35565383f02_0_404"/>
          <p:cNvSpPr txBox="1"/>
          <p:nvPr/>
        </p:nvSpPr>
        <p:spPr>
          <a:xfrm>
            <a:off x="1005840" y="265176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1" name="Google Shape;511;g35565383f02_0_404"/>
          <p:cNvSpPr txBox="1"/>
          <p:nvPr/>
        </p:nvSpPr>
        <p:spPr>
          <a:xfrm>
            <a:off x="1005840" y="3182112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2" name="Google Shape;512;g35565383f02_0_404"/>
          <p:cNvSpPr txBox="1"/>
          <p:nvPr/>
        </p:nvSpPr>
        <p:spPr>
          <a:xfrm>
            <a:off x="4860225" y="22490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3" name="Google Shape;513;g35565383f02_0_404"/>
          <p:cNvSpPr/>
          <p:nvPr/>
        </p:nvSpPr>
        <p:spPr>
          <a:xfrm>
            <a:off x="1137300" y="4129375"/>
            <a:ext cx="4431900" cy="23166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module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514" name="Google Shape;514;g35565383f02_0_4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400" y="4870700"/>
            <a:ext cx="3377550" cy="13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g35565383f02_0_404"/>
          <p:cNvSpPr txBox="1"/>
          <p:nvPr/>
        </p:nvSpPr>
        <p:spPr>
          <a:xfrm>
            <a:off x="1071565" y="460350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6" name="Google Shape;516;g35565383f02_0_404"/>
          <p:cNvSpPr txBox="1"/>
          <p:nvPr/>
        </p:nvSpPr>
        <p:spPr>
          <a:xfrm>
            <a:off x="1071565" y="5133852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7" name="Google Shape;517;g35565383f02_0_404"/>
          <p:cNvSpPr txBox="1"/>
          <p:nvPr/>
        </p:nvSpPr>
        <p:spPr>
          <a:xfrm>
            <a:off x="1071565" y="5426460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8" name="Google Shape;518;g35565383f02_0_404"/>
          <p:cNvSpPr txBox="1"/>
          <p:nvPr/>
        </p:nvSpPr>
        <p:spPr>
          <a:xfrm>
            <a:off x="1071565" y="5956812"/>
            <a:ext cx="5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in4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9" name="Google Shape;519;g35565383f02_0_404"/>
          <p:cNvSpPr txBox="1"/>
          <p:nvPr/>
        </p:nvSpPr>
        <p:spPr>
          <a:xfrm>
            <a:off x="4925950" y="5023725"/>
            <a:ext cx="7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out1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20" name="Google Shape;520;g35565383f02_0_404"/>
          <p:cNvSpPr txBox="1"/>
          <p:nvPr/>
        </p:nvSpPr>
        <p:spPr>
          <a:xfrm>
            <a:off x="5881975" y="1354675"/>
            <a:ext cx="6051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</a:rPr>
              <a:t>4</a:t>
            </a:r>
            <a:r>
              <a:rPr lang="en-US" sz="2400">
                <a:solidFill>
                  <a:schemeClr val="dk1"/>
                </a:solidFill>
              </a:rPr>
              <a:t> inputs ⇒ (4!) 24 orders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	   e.g. inA &lt; inB &lt; inC &lt; inD, 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		     inA &lt; inC &lt; inB &lt; inD…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	   ⇒ 需要比較 24次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</a:rPr>
              <a:t>n</a:t>
            </a:r>
            <a:r>
              <a:rPr lang="en-US" sz="2400">
                <a:solidFill>
                  <a:schemeClr val="dk1"/>
                </a:solidFill>
              </a:rPr>
              <a:t> inputs ⇒ n! orders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	   ⇒ 需要比較 n! 次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521" name="Google Shape;521;g35565383f02_0_404"/>
          <p:cNvSpPr txBox="1"/>
          <p:nvPr/>
        </p:nvSpPr>
        <p:spPr>
          <a:xfrm>
            <a:off x="5881975" y="4129375"/>
            <a:ext cx="59268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Solution: 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使用</a:t>
            </a:r>
            <a:r>
              <a:rPr lang="en-US" sz="2400">
                <a:solidFill>
                  <a:srgbClr val="FF0000"/>
                </a:solidFill>
              </a:rPr>
              <a:t>Static variable ordering</a:t>
            </a:r>
            <a:r>
              <a:rPr lang="en-US" sz="2400">
                <a:solidFill>
                  <a:schemeClr val="dk1"/>
                </a:solidFill>
              </a:rPr>
              <a:t>，越靠近output的變數在順序上會越靠後</a:t>
            </a:r>
            <a:endParaRPr sz="240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⇒ inB &lt; inC &lt; inD &lt; inA; </a:t>
            </a:r>
            <a:endParaRPr sz="240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in2 &lt; in3 &lt; in4 &lt; in1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5413d355b1_1_1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527" name="Google Shape;527;g35413d355b1_1_1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528" name="Google Shape;528;g35413d355b1_1_12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Problem Definition 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Our Idea- Data Structures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Our Idea- Algorithms</a:t>
            </a:r>
            <a:endParaRPr sz="2500" dirty="0">
              <a:solidFill>
                <a:schemeClr val="lt2"/>
              </a:solidFill>
            </a:endParaRPr>
          </a:p>
          <a:p>
            <a:pPr marL="539750" indent="-469900">
              <a:buSzPts val="2500"/>
              <a:buFont typeface="Arial"/>
              <a:buAutoNum type="arabicPeriod"/>
            </a:pPr>
            <a:r>
              <a:rPr lang="en-US" altLang="zh-TW" sz="2500" dirty="0"/>
              <a:t>Current Implementation Results (</a:t>
            </a:r>
            <a:r>
              <a:rPr lang="en-US" altLang="zh-TW" sz="2500" dirty="0">
                <a:solidFill>
                  <a:srgbClr val="FF0000"/>
                </a:solidFill>
              </a:rPr>
              <a:t>Including Program Demo</a:t>
            </a:r>
            <a:r>
              <a:rPr lang="en-US" altLang="zh-TW" sz="2500" dirty="0"/>
              <a:t>)</a:t>
            </a:r>
            <a:endParaRPr lang="en-US" sz="2500" dirty="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Potential Challenges and Future Works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A Table about Our Project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Screenshot of Successful Registration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 dirty="0"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35" name="Google Shape;535;p7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536" name="Google Shape;536;p7"/>
          <p:cNvSpPr txBox="1"/>
          <p:nvPr/>
        </p:nvSpPr>
        <p:spPr>
          <a:xfrm>
            <a:off x="601133" y="1462472"/>
            <a:ext cx="7900610" cy="377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建構Abstract Syntax Tree (AST)</a:t>
            </a:r>
            <a:endParaRPr/>
          </a:p>
          <a:p>
            <a:pPr marL="514350" marR="0" lvl="0" indent="-5143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AST Comparison Algorithm</a:t>
            </a:r>
            <a:endParaRPr/>
          </a:p>
          <a:p>
            <a:pPr marL="514350" marR="0" lvl="0" indent="-5143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Unoptimized Program Flow</a:t>
            </a:r>
            <a:endParaRPr/>
          </a:p>
          <a:p>
            <a:pPr marL="514350" marR="0" lvl="0" indent="-5143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Test Cases Demo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42" name="Google Shape;542;p8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543" name="Google Shape;543;p8"/>
          <p:cNvSpPr txBox="1"/>
          <p:nvPr/>
        </p:nvSpPr>
        <p:spPr>
          <a:xfrm>
            <a:off x="601133" y="2219742"/>
            <a:ext cx="3058757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1-input operator</a:t>
            </a:r>
            <a:endParaRPr/>
          </a:p>
        </p:txBody>
      </p:sp>
      <p:sp>
        <p:nvSpPr>
          <p:cNvPr id="544" name="Google Shape;544;p8"/>
          <p:cNvSpPr txBox="1"/>
          <p:nvPr/>
        </p:nvSpPr>
        <p:spPr>
          <a:xfrm>
            <a:off x="4474157" y="2219742"/>
            <a:ext cx="3058757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2-input operator</a:t>
            </a:r>
            <a:endParaRPr/>
          </a:p>
        </p:txBody>
      </p:sp>
      <p:sp>
        <p:nvSpPr>
          <p:cNvPr id="545" name="Google Shape;545;p8"/>
          <p:cNvSpPr txBox="1"/>
          <p:nvPr/>
        </p:nvSpPr>
        <p:spPr>
          <a:xfrm>
            <a:off x="8752243" y="2219742"/>
            <a:ext cx="3058757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3-input operator</a:t>
            </a:r>
            <a:endParaRPr/>
          </a:p>
        </p:txBody>
      </p:sp>
      <p:pic>
        <p:nvPicPr>
          <p:cNvPr id="546" name="Google Shape;54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3517" y="3515141"/>
            <a:ext cx="1893987" cy="1638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4791" y="3238927"/>
            <a:ext cx="3418606" cy="2878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1067" y="3515141"/>
            <a:ext cx="1801108" cy="15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8"/>
          <p:cNvSpPr txBox="1"/>
          <p:nvPr/>
        </p:nvSpPr>
        <p:spPr>
          <a:xfrm>
            <a:off x="601133" y="1462473"/>
            <a:ext cx="7467600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建構Abstract Syntax Tree時須特別注意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55" name="Google Shape;555;p9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556" name="Google Shape;556;p9"/>
          <p:cNvSpPr txBox="1"/>
          <p:nvPr/>
        </p:nvSpPr>
        <p:spPr>
          <a:xfrm>
            <a:off x="862390" y="2354112"/>
            <a:ext cx="4384524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In-Commutative Operator 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9"/>
          <p:cNvSpPr txBox="1"/>
          <p:nvPr/>
        </p:nvSpPr>
        <p:spPr>
          <a:xfrm>
            <a:off x="6840281" y="2354112"/>
            <a:ext cx="4806775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Commutative Operator 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8" name="Google Shape;5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675" y="3562308"/>
            <a:ext cx="5385339" cy="1351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2986" y="3562308"/>
            <a:ext cx="5354607" cy="1351648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9"/>
          <p:cNvSpPr txBox="1"/>
          <p:nvPr/>
        </p:nvSpPr>
        <p:spPr>
          <a:xfrm>
            <a:off x="539380" y="1541779"/>
            <a:ext cx="10219267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AST Comparison Algorithm</a:t>
            </a:r>
            <a:r>
              <a:rPr lang="en-US" sz="2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比對Abstract Syntax Tree時須特別注意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0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66" name="Google Shape;566;p1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567" name="Google Shape;567;p10"/>
          <p:cNvSpPr txBox="1"/>
          <p:nvPr/>
        </p:nvSpPr>
        <p:spPr>
          <a:xfrm>
            <a:off x="546375" y="1249576"/>
            <a:ext cx="10077900" cy="31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AST Comparison Algorithm</a:t>
            </a: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將AST轉換成唯一表達式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賦予commutative operator固定順序 ex: AND(&amp;)&gt; OR (|) &gt; ADD (+)</a:t>
            </a:r>
            <a:endParaRPr/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字串以比大小的方式將較小的string放在left node，較大者在right node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Google Shape;56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491" y="3725312"/>
            <a:ext cx="10399017" cy="273961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0"/>
          <p:cNvSpPr/>
          <p:nvPr/>
        </p:nvSpPr>
        <p:spPr>
          <a:xfrm>
            <a:off x="5585251" y="5018781"/>
            <a:ext cx="1077685" cy="59871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1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75" name="Google Shape;575;p11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576" name="Google Shape;576;p11"/>
          <p:cNvSpPr txBox="1">
            <a:spLocks noGrp="1"/>
          </p:cNvSpPr>
          <p:nvPr>
            <p:ph type="body" idx="1"/>
          </p:nvPr>
        </p:nvSpPr>
        <p:spPr>
          <a:xfrm>
            <a:off x="573087" y="138793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500" b="1"/>
              <a:t>Unoptimized Program Flow</a:t>
            </a:r>
            <a:endParaRPr/>
          </a:p>
        </p:txBody>
      </p:sp>
      <p:pic>
        <p:nvPicPr>
          <p:cNvPr id="577" name="Google Shape;57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19" y="2139957"/>
            <a:ext cx="12140129" cy="35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83" name="Google Shape;583;p1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584" name="Google Shape;5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725" y="1882579"/>
            <a:ext cx="11032555" cy="45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2"/>
          <p:cNvSpPr txBox="1"/>
          <p:nvPr/>
        </p:nvSpPr>
        <p:spPr>
          <a:xfrm>
            <a:off x="601133" y="1306038"/>
            <a:ext cx="7095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Test Cases 1: AST of sub_module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3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91" name="Google Shape;591;p13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592" name="Google Shape;592;p13"/>
          <p:cNvSpPr txBox="1"/>
          <p:nvPr/>
        </p:nvSpPr>
        <p:spPr>
          <a:xfrm>
            <a:off x="601133" y="1347938"/>
            <a:ext cx="8270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Test Cases 1: AST of new_sub_module (固定)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3" name="Google Shape;59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684" y="1966416"/>
            <a:ext cx="10840632" cy="4626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600" name="Google Shape;600;p14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500"/>
              <a:t>Signal Matching Result of Testcase 1: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output_y -&gt;result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control1 -&gt; control1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control2 -&gt; flag_x</a:t>
            </a:r>
            <a:endParaRPr sz="2500"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input_a -&gt; data_x</a:t>
            </a:r>
            <a:endParaRPr sz="2500"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input_b -&gt; data_y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606" name="Google Shape;606;p15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607" name="Google Shape;607;p15"/>
          <p:cNvSpPr txBox="1"/>
          <p:nvPr/>
        </p:nvSpPr>
        <p:spPr>
          <a:xfrm>
            <a:off x="601133" y="1405525"/>
            <a:ext cx="7095067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Test Cases 2: AST of sub_module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891" y="1909377"/>
            <a:ext cx="10460406" cy="471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614" name="Google Shape;614;p16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615" name="Google Shape;615;p16"/>
          <p:cNvSpPr txBox="1"/>
          <p:nvPr/>
        </p:nvSpPr>
        <p:spPr>
          <a:xfrm>
            <a:off x="601133" y="1405525"/>
            <a:ext cx="8564638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Test Cases 2: AST of new_sub_module (固定)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22" y="2054031"/>
            <a:ext cx="10635343" cy="453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622" name="Google Shape;622;p17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623" name="Google Shape;623;p17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500"/>
              <a:t>Signal Matching Result of Testcase 2: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output_y -&gt;result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control1 -&gt; control1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control2 -&gt; flag_x</a:t>
            </a:r>
            <a:endParaRPr sz="2500"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input_a -&gt; data_x</a:t>
            </a:r>
            <a:endParaRPr sz="2500"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input_b -&gt; data_y</a:t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8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629" name="Google Shape;629;p18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630" name="Google Shape;630;p18"/>
          <p:cNvSpPr txBox="1"/>
          <p:nvPr/>
        </p:nvSpPr>
        <p:spPr>
          <a:xfrm>
            <a:off x="601133" y="1405525"/>
            <a:ext cx="7095067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Test Cases 3: AST of sub_module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553" y="1954523"/>
            <a:ext cx="10369082" cy="4665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9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637" name="Google Shape;637;p19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638" name="Google Shape;638;p19"/>
          <p:cNvSpPr txBox="1"/>
          <p:nvPr/>
        </p:nvSpPr>
        <p:spPr>
          <a:xfrm>
            <a:off x="601132" y="1405525"/>
            <a:ext cx="8379581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Test Cases 3: AST of new_sub_module (固定)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22" y="2054031"/>
            <a:ext cx="10635343" cy="453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0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4- Current Implementation Results</a:t>
            </a:r>
            <a:endParaRPr/>
          </a:p>
        </p:txBody>
      </p:sp>
      <p:sp>
        <p:nvSpPr>
          <p:cNvPr id="645" name="Google Shape;645;p2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646" name="Google Shape;646;p20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82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500"/>
              <a:t>Signal Matching Result of Testcase 3: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output_y-&gt;result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control1 -&gt; control1</a:t>
            </a:r>
            <a:endParaRPr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/>
              <a:t>control2 -&gt; flag_x</a:t>
            </a:r>
            <a:endParaRPr sz="2500"/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>
                <a:solidFill>
                  <a:srgbClr val="FF0000"/>
                </a:solidFill>
              </a:rPr>
              <a:t>input_a -&gt; data_y</a:t>
            </a:r>
            <a:endParaRPr sz="2500">
              <a:solidFill>
                <a:srgbClr val="FF0000"/>
              </a:solidFill>
            </a:endParaRPr>
          </a:p>
          <a:p>
            <a:pPr marL="457200" lvl="0" indent="-4318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500">
                <a:solidFill>
                  <a:srgbClr val="FF0000"/>
                </a:solidFill>
              </a:rPr>
              <a:t>input_b -&gt; data_x</a:t>
            </a:r>
            <a:endParaRPr sz="2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413d355b1_0_0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89" name="Google Shape;89;g35413d355b1_0_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90" name="Google Shape;90;g35413d355b1_0_0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E7E6E6"/>
              </a:buClr>
              <a:buSzPts val="2500"/>
              <a:buFont typeface="+mj-lt"/>
              <a:buAutoNum type="arabicPeriod"/>
            </a:pPr>
            <a:r>
              <a:rPr lang="en-US" sz="2500" dirty="0">
                <a:solidFill>
                  <a:srgbClr val="E7E6E6"/>
                </a:solidFill>
              </a:rPr>
              <a:t>Problem Definition </a:t>
            </a:r>
            <a:endParaRPr sz="2500" dirty="0">
              <a:solidFill>
                <a:srgbClr val="E7E6E6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Our Idea- Data Structures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Our Idea- Algorithms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Current Implementation Results</a:t>
            </a:r>
            <a:endParaRPr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Potential Challenges and Future Works</a:t>
            </a:r>
            <a:endParaRPr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A Table about Our Project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 dirty="0">
                <a:solidFill>
                  <a:schemeClr val="lt2"/>
                </a:solidFill>
              </a:rPr>
              <a:t>Screenshot of Successful Registration</a:t>
            </a:r>
            <a:endParaRPr sz="2500" dirty="0">
              <a:solidFill>
                <a:schemeClr val="lt2"/>
              </a:solidFill>
            </a:endParaRPr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 dirty="0"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1CC72-6E31-E390-898D-031CCF3A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Part 5- </a:t>
            </a:r>
            <a:r>
              <a:rPr lang="en-US" dirty="0"/>
              <a:t>Potential Challenges and Future Works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CF5CBE-4D66-A623-3BD9-885F130161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91896A5-AD53-88A0-D9F5-DEB474DA8768}"/>
              </a:ext>
            </a:extLst>
          </p:cNvPr>
          <p:cNvSpPr txBox="1"/>
          <p:nvPr/>
        </p:nvSpPr>
        <p:spPr>
          <a:xfrm>
            <a:off x="601133" y="1385180"/>
            <a:ext cx="1137042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Memory Overflow</a:t>
            </a:r>
          </a:p>
          <a:p>
            <a:r>
              <a:rPr lang="en-US" sz="2000" dirty="0"/>
              <a:t>        Abstract tree struct scaled with logic gate increasing. When the circuit is large, this may cause</a:t>
            </a:r>
          </a:p>
          <a:p>
            <a:r>
              <a:rPr lang="en-US" sz="2000" dirty="0"/>
              <a:t>        program memory overflow.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Time Limit Exceeded</a:t>
            </a:r>
          </a:p>
          <a:p>
            <a:r>
              <a:rPr lang="en-US" sz="2000" dirty="0"/>
              <a:t>        Traversal compare two AST to check logic equivalence is impractical with humongous circuit.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False Negative</a:t>
            </a:r>
          </a:p>
          <a:p>
            <a:r>
              <a:rPr lang="en-US" sz="2000" dirty="0"/>
              <a:t>        Some Verilog code may totally be different in AST but result in same logic.</a:t>
            </a:r>
          </a:p>
          <a:p>
            <a:r>
              <a:rPr lang="en-US" sz="2000" dirty="0"/>
              <a:t>        Ex:</a:t>
            </a:r>
          </a:p>
          <a:p>
            <a:r>
              <a:rPr lang="en-US" sz="2000" dirty="0"/>
              <a:t>	</a:t>
            </a:r>
            <a:r>
              <a:rPr lang="es-ES" sz="2000" dirty="0"/>
              <a:t>assign y = (sel) ? a : b ;</a:t>
            </a:r>
          </a:p>
          <a:p>
            <a:r>
              <a:rPr lang="es-ES" sz="2000" dirty="0"/>
              <a:t>		&amp;</a:t>
            </a:r>
          </a:p>
          <a:p>
            <a:r>
              <a:rPr lang="es-ES" sz="2000" dirty="0"/>
              <a:t>	assign y = (~sel &amp; b) | (sel &amp; a) ;</a:t>
            </a:r>
          </a:p>
          <a:p>
            <a:r>
              <a:rPr lang="es-ES" sz="2000" dirty="0"/>
              <a:t>        These two declaration is logically equivalence but different in AST.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6062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2299D5-4CB8-B4A9-F85C-A41DE1E1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Part 5- </a:t>
            </a:r>
            <a:r>
              <a:rPr lang="en-US" dirty="0"/>
              <a:t>Potential Challenges and Future Works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3AFBD63-62D4-09FF-9120-D9EA7A852C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13D2D7B-661C-FB67-B677-88A0A6124A17}"/>
              </a:ext>
            </a:extLst>
          </p:cNvPr>
          <p:cNvSpPr txBox="1"/>
          <p:nvPr/>
        </p:nvSpPr>
        <p:spPr>
          <a:xfrm>
            <a:off x="601133" y="1206500"/>
            <a:ext cx="11487440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Future Work</a:t>
            </a:r>
          </a:p>
          <a:p>
            <a:pPr lvl="1"/>
            <a:r>
              <a:rPr lang="en-US" sz="2000" dirty="0"/>
              <a:t>   - Redundant logic check:</a:t>
            </a:r>
          </a:p>
          <a:p>
            <a:pPr lvl="1"/>
            <a:r>
              <a:rPr lang="en-US" sz="2000" dirty="0"/>
              <a:t>	There might be some redundant logic in the circuit, implement the algorithm to search it and</a:t>
            </a:r>
          </a:p>
          <a:p>
            <a:pPr lvl="1"/>
            <a:r>
              <a:rPr lang="en-US" sz="2000" dirty="0"/>
              <a:t>	excluding it from AST may improve memory usage and execution time.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   -  Data Reusing:</a:t>
            </a:r>
          </a:p>
          <a:p>
            <a:pPr lvl="1"/>
            <a:r>
              <a:rPr lang="en-US" sz="2000" dirty="0"/>
              <a:t>	When creating a new node on tree, check if there is a node with same input, if there is,</a:t>
            </a:r>
          </a:p>
          <a:p>
            <a:pPr lvl="1"/>
            <a:r>
              <a:rPr lang="en-US" sz="2000" dirty="0"/>
              <a:t>	Reusing the data can improve memory usage.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   - And-Inverter-Graph:</a:t>
            </a:r>
          </a:p>
          <a:p>
            <a:pPr lvl="1"/>
            <a:r>
              <a:rPr lang="en-US" sz="2000" dirty="0"/>
              <a:t>	The AIG data structure can support strict semantic representation, not like AST which may</a:t>
            </a:r>
          </a:p>
          <a:p>
            <a:pPr lvl="1"/>
            <a:r>
              <a:rPr lang="en-US" sz="2000" dirty="0"/>
              <a:t>	eliminate the false negative problem.</a:t>
            </a:r>
            <a:r>
              <a:rPr lang="en-US" altLang="zh-TW" sz="2000" dirty="0"/>
              <a:t> </a:t>
            </a:r>
          </a:p>
          <a:p>
            <a:pPr lvl="1"/>
            <a:r>
              <a:rPr lang="en-US" altLang="zh-TW" sz="2000" dirty="0"/>
              <a:t>	Transfer some high-level syntax in AST like (?:, &gt;&gt;, &lt;&lt;) into base logic and build an AIG.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0396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5742d948fd_0_0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652" name="Google Shape;652;g35742d948fd_0_0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653" name="Google Shape;653;g35742d948fd_0_0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Problem Definition 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Data Structures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Algorithms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Current Implementation Results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Potential Challenges and Future Works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/>
              <a:t>A Table about Our Project</a:t>
            </a:r>
            <a:endParaRPr sz="2500"/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Screenshot of Successful Registration</a:t>
            </a:r>
            <a:endParaRPr sz="2500">
              <a:solidFill>
                <a:schemeClr val="lt2"/>
              </a:solidFill>
            </a:endParaRPr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5742d948fd_0_6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/>
              <a:t>Part 6- A project table</a:t>
            </a:r>
            <a:endParaRPr dirty="0"/>
          </a:p>
        </p:txBody>
      </p:sp>
      <p:sp>
        <p:nvSpPr>
          <p:cNvPr id="660" name="Google Shape;660;g35742d948fd_0_6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graphicFrame>
        <p:nvGraphicFramePr>
          <p:cNvPr id="661" name="Google Shape;661;g35742d948fd_0_6"/>
          <p:cNvGraphicFramePr/>
          <p:nvPr/>
        </p:nvGraphicFramePr>
        <p:xfrm>
          <a:off x="140038" y="1775600"/>
          <a:ext cx="11507125" cy="3476860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156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9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Team ID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Problem Title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Team Member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Project Overview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Platform Used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cade0002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RTL Re-connection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徐松廷</a:t>
                      </a:r>
                      <a:endParaRPr sz="24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陳冠宏</a:t>
                      </a:r>
                      <a:endParaRPr sz="24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蔡昀翰</a:t>
                      </a:r>
                      <a:endParaRPr sz="24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沈立揚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在RTL設計中，子模組升級或訊號名稱變更時，Top模組需同步更新接線，並解決名稱對應、訊號匹配及功能一致性等問題。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Linux作業系統</a:t>
                      </a:r>
                      <a:endParaRPr sz="24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g++</a:t>
                      </a:r>
                      <a:r>
                        <a:rPr lang="en-US" sz="2400"/>
                        <a:t>編譯器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5742d948fd_0_2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Part 6- A project table</a:t>
            </a:r>
            <a:endParaRPr dirty="0"/>
          </a:p>
        </p:txBody>
      </p:sp>
      <p:sp>
        <p:nvSpPr>
          <p:cNvPr id="668" name="Google Shape;668;g35742d948fd_0_2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graphicFrame>
        <p:nvGraphicFramePr>
          <p:cNvPr id="669" name="Google Shape;669;g35742d948fd_0_22"/>
          <p:cNvGraphicFramePr/>
          <p:nvPr/>
        </p:nvGraphicFramePr>
        <p:xfrm>
          <a:off x="385950" y="1750263"/>
          <a:ext cx="11420075" cy="2991705"/>
        </p:xfrm>
        <a:graphic>
          <a:graphicData uri="http://schemas.openxmlformats.org/drawingml/2006/table">
            <a:tbl>
              <a:tblPr>
                <a:noFill/>
                <a:tableStyleId>{D99C86AC-4B3C-402A-AFFA-429C24508736}</a:tableStyleId>
              </a:tblPr>
              <a:tblGrid>
                <a:gridCol w="546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Applied Technologies and Knowledge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Implementation Details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Abstract Syntax Tree (AST)</a:t>
                      </a:r>
                      <a:endParaRPr sz="24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Reduced Ordered Binary Decision Diagram (ROBDD)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純邏輯moudle採用ROBDD進行比對，並透過Static Variable Ordering提升比對效率；運算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moudle</a:t>
                      </a:r>
                      <a:r>
                        <a:rPr lang="en-US" sz="2400"/>
                        <a:t>則使用AST進行比對。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5413d355b1_1_18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675" name="Google Shape;675;g35413d355b1_1_18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76" name="Google Shape;676;g35413d355b1_1_18"/>
          <p:cNvSpPr txBox="1">
            <a:spLocks noGrp="1"/>
          </p:cNvSpPr>
          <p:nvPr>
            <p:ph type="body" idx="1"/>
          </p:nvPr>
        </p:nvSpPr>
        <p:spPr>
          <a:xfrm>
            <a:off x="601663" y="1358900"/>
            <a:ext cx="11045700" cy="4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Problem Definition 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Data Structures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Our Idea- Algorithms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Current Implementation Results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Potential Challenges and Future Works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chemeClr val="lt2"/>
                </a:solidFill>
              </a:rPr>
              <a:t>A Table about Our Project</a:t>
            </a:r>
            <a:endParaRPr sz="2500">
              <a:solidFill>
                <a:schemeClr val="lt2"/>
              </a:solidFill>
            </a:endParaRPr>
          </a:p>
          <a:p>
            <a:pPr marL="53975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Font typeface="Arial"/>
              <a:buAutoNum type="arabicPeriod"/>
            </a:pPr>
            <a:r>
              <a:rPr lang="en-US" sz="2500"/>
              <a:t>Screenshot of Successful Registration</a:t>
            </a:r>
            <a:endParaRPr sz="2500"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  <a:p>
            <a:pPr marL="53975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1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7-Successful Registration Screenshots </a:t>
            </a:r>
            <a:endParaRPr/>
          </a:p>
        </p:txBody>
      </p:sp>
      <p:sp>
        <p:nvSpPr>
          <p:cNvPr id="682" name="Google Shape;682;p21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683" name="Google Shape;683;p21"/>
          <p:cNvPicPr preferRelativeResize="0"/>
          <p:nvPr/>
        </p:nvPicPr>
        <p:blipFill rotWithShape="1">
          <a:blip r:embed="rId3">
            <a:alphaModFix/>
          </a:blip>
          <a:srcRect l="884" t="20037"/>
          <a:stretch/>
        </p:blipFill>
        <p:spPr>
          <a:xfrm>
            <a:off x="1110000" y="1517421"/>
            <a:ext cx="9972000" cy="4385129"/>
          </a:xfrm>
          <a:prstGeom prst="rect">
            <a:avLst/>
          </a:prstGeom>
          <a:noFill/>
          <a:ln w="9525" cap="flat" cmpd="sng">
            <a:solidFill>
              <a:srgbClr val="AEABAB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2"/>
          <p:cNvSpPr txBox="1">
            <a:spLocks noGrp="1"/>
          </p:cNvSpPr>
          <p:nvPr>
            <p:ph type="title"/>
          </p:nvPr>
        </p:nvSpPr>
        <p:spPr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7-Successful Registration Screenshots </a:t>
            </a:r>
            <a:endParaRPr/>
          </a:p>
        </p:txBody>
      </p:sp>
      <p:sp>
        <p:nvSpPr>
          <p:cNvPr id="689" name="Google Shape;689;p22"/>
          <p:cNvSpPr txBox="1">
            <a:spLocks noGrp="1"/>
          </p:cNvSpPr>
          <p:nvPr>
            <p:ph type="sldNum" idx="12"/>
          </p:nvPr>
        </p:nvSpPr>
        <p:spPr>
          <a:xfrm>
            <a:off x="11430000" y="6619878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690" name="Google Shape;69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767" y="1597907"/>
            <a:ext cx="10490654" cy="4264049"/>
          </a:xfrm>
          <a:prstGeom prst="rect">
            <a:avLst/>
          </a:prstGeom>
          <a:noFill/>
          <a:ln w="9525" cap="flat" cmpd="sng">
            <a:solidFill>
              <a:srgbClr val="AEABAB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8B2B1D-DDF6-11DC-6845-9951C6AC19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9EBA241F-1725-20AA-E732-D10EBF16E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Thanks for watching.</a:t>
            </a:r>
            <a:endParaRPr lang="zh-TW" altLang="en-US" dirty="0"/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92350B3-E3F2-8D81-1BD3-7122860F0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422459"/>
      </p:ext>
    </p:extLst>
  </p:cSld>
  <p:clrMapOvr>
    <a:masterClrMapping/>
  </p:clrMapOvr>
</p:sld>
</file>

<file path=ppt/theme/theme1.xml><?xml version="1.0" encoding="utf-8"?>
<a:theme xmlns:a="http://schemas.openxmlformats.org/drawingml/2006/main" name="簡報內頁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1573</Words>
  <Application>Microsoft Office PowerPoint</Application>
  <PresentationFormat>寬螢幕</PresentationFormat>
  <Paragraphs>507</Paragraphs>
  <Slides>42</Slides>
  <Notes>41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5" baseType="lpstr">
      <vt:lpstr>Arial</vt:lpstr>
      <vt:lpstr>Calibri</vt:lpstr>
      <vt:lpstr>簡報內頁</vt:lpstr>
      <vt:lpstr>2025 ICCAD Contest – Check Point 2</vt:lpstr>
      <vt:lpstr>Outline</vt:lpstr>
      <vt:lpstr>Outline</vt:lpstr>
      <vt:lpstr>Part 1-Problem Definition</vt:lpstr>
      <vt:lpstr>Outline</vt:lpstr>
      <vt:lpstr>Part 2-Data Structure </vt:lpstr>
      <vt:lpstr>Part 2-Data Structure </vt:lpstr>
      <vt:lpstr>Part 2-Data Structure </vt:lpstr>
      <vt:lpstr>Part 2-Data Structure </vt:lpstr>
      <vt:lpstr>Outline</vt:lpstr>
      <vt:lpstr>Part 3-Algorithm</vt:lpstr>
      <vt:lpstr>Part 3-Algorithm</vt:lpstr>
      <vt:lpstr>Part 3-Algorithm (AST)</vt:lpstr>
      <vt:lpstr>Part 3-Algorithm (AST)</vt:lpstr>
      <vt:lpstr>Part 3-Algorithm (AST) </vt:lpstr>
      <vt:lpstr>Part 3-Algorithm (AST)</vt:lpstr>
      <vt:lpstr>Part 3-Algorithm (ROBDD)</vt:lpstr>
      <vt:lpstr>Outline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Part 4- Current Implementation Results</vt:lpstr>
      <vt:lpstr>Outline</vt:lpstr>
      <vt:lpstr>Part 5- Potential Challenges and Future Works</vt:lpstr>
      <vt:lpstr>Part 5- Potential Challenges and Future Works</vt:lpstr>
      <vt:lpstr>Outline</vt:lpstr>
      <vt:lpstr>Part 6- A project table</vt:lpstr>
      <vt:lpstr>Part 6- A project table</vt:lpstr>
      <vt:lpstr>Outline</vt:lpstr>
      <vt:lpstr>Part 7-Successful Registration Screenshots </vt:lpstr>
      <vt:lpstr>Part 7-Successful Registration Screenshots </vt:lpstr>
      <vt:lpstr>Thanks for watching.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Jack</dc:creator>
  <cp:lastModifiedBy>沈立揚 (113521142)</cp:lastModifiedBy>
  <cp:revision>10</cp:revision>
  <dcterms:modified xsi:type="dcterms:W3CDTF">2025-05-16T18:08:03Z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0x01010058A55461588945409E8C91A1AEA4F36E</vt:lpwstr>
  </property>
</Properties>
</file>